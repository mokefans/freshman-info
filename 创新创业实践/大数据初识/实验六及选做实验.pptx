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599" r:id="rId2"/>
    <p:sldId id="641" r:id="rId3"/>
    <p:sldId id="642" r:id="rId4"/>
    <p:sldId id="553" r:id="rId5"/>
    <p:sldId id="552" r:id="rId6"/>
    <p:sldId id="648" r:id="rId7"/>
    <p:sldId id="649" r:id="rId8"/>
    <p:sldId id="600" r:id="rId9"/>
    <p:sldId id="554" r:id="rId10"/>
    <p:sldId id="601" r:id="rId11"/>
    <p:sldId id="650" r:id="rId12"/>
    <p:sldId id="651" r:id="rId13"/>
    <p:sldId id="652" r:id="rId14"/>
    <p:sldId id="653" r:id="rId15"/>
    <p:sldId id="689" r:id="rId16"/>
    <p:sldId id="691" r:id="rId17"/>
    <p:sldId id="690" r:id="rId18"/>
    <p:sldId id="692" r:id="rId19"/>
    <p:sldId id="693" r:id="rId20"/>
    <p:sldId id="694" r:id="rId21"/>
    <p:sldId id="695" r:id="rId22"/>
    <p:sldId id="696" r:id="rId23"/>
    <p:sldId id="697" r:id="rId24"/>
    <p:sldId id="698" r:id="rId25"/>
    <p:sldId id="699" r:id="rId26"/>
    <p:sldId id="700"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E94F75-319B-4197-B800-809E293BA209}" type="datetimeFigureOut">
              <a:rPr lang="zh-CN" altLang="en-US" smtClean="0"/>
              <a:t>2021/10/30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1F8595-2B55-4BDF-8EB8-E72AADB0F2E1}" type="slidenum">
              <a:rPr lang="zh-CN" altLang="en-US" smtClean="0"/>
              <a:t>‹#›</a:t>
            </a:fld>
            <a:endParaRPr lang="zh-CN" altLang="en-US"/>
          </a:p>
        </p:txBody>
      </p:sp>
    </p:spTree>
    <p:extLst>
      <p:ext uri="{BB962C8B-B14F-4D97-AF65-F5344CB8AC3E}">
        <p14:creationId xmlns:p14="http://schemas.microsoft.com/office/powerpoint/2010/main" val="3599771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B621246-A01E-4AFD-9A0F-3701D05640A8}" type="slidenum">
              <a:rPr lang="en-US" altLang="zh-CN" smtClean="0"/>
              <a:t>1</a:t>
            </a:fld>
            <a:endParaRPr lang="en-US" altLang="zh-CN"/>
          </a:p>
        </p:txBody>
      </p:sp>
    </p:spTree>
    <p:extLst>
      <p:ext uri="{BB962C8B-B14F-4D97-AF65-F5344CB8AC3E}">
        <p14:creationId xmlns:p14="http://schemas.microsoft.com/office/powerpoint/2010/main" val="202652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870E1A-D143-41BA-9432-BD5F9D731C01}" type="slidenum">
              <a:rPr lang="zh-CN" altLang="en-US" smtClean="0"/>
              <a:t>2</a:t>
            </a:fld>
            <a:endParaRPr lang="zh-CN" altLang="en-US"/>
          </a:p>
        </p:txBody>
      </p:sp>
    </p:spTree>
    <p:extLst>
      <p:ext uri="{BB962C8B-B14F-4D97-AF65-F5344CB8AC3E}">
        <p14:creationId xmlns:p14="http://schemas.microsoft.com/office/powerpoint/2010/main" val="332163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870E1A-D143-41BA-9432-BD5F9D731C01}" type="slidenum">
              <a:rPr lang="zh-CN" altLang="en-US" smtClean="0"/>
              <a:t>3</a:t>
            </a:fld>
            <a:endParaRPr lang="zh-CN" altLang="en-US"/>
          </a:p>
        </p:txBody>
      </p:sp>
    </p:spTree>
    <p:extLst>
      <p:ext uri="{BB962C8B-B14F-4D97-AF65-F5344CB8AC3E}">
        <p14:creationId xmlns:p14="http://schemas.microsoft.com/office/powerpoint/2010/main" val="2837935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870E1A-D143-41BA-9432-BD5F9D731C01}" type="slidenum">
              <a:rPr lang="zh-CN" altLang="en-US" smtClean="0"/>
              <a:t>4</a:t>
            </a:fld>
            <a:endParaRPr lang="zh-CN" altLang="en-US"/>
          </a:p>
        </p:txBody>
      </p:sp>
    </p:spTree>
    <p:extLst>
      <p:ext uri="{BB962C8B-B14F-4D97-AF65-F5344CB8AC3E}">
        <p14:creationId xmlns:p14="http://schemas.microsoft.com/office/powerpoint/2010/main" val="3004775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870E1A-D143-41BA-9432-BD5F9D731C01}" type="slidenum">
              <a:rPr lang="zh-CN" altLang="en-US" smtClean="0"/>
              <a:t>5</a:t>
            </a:fld>
            <a:endParaRPr lang="zh-CN" altLang="en-US"/>
          </a:p>
        </p:txBody>
      </p:sp>
    </p:spTree>
    <p:extLst>
      <p:ext uri="{BB962C8B-B14F-4D97-AF65-F5344CB8AC3E}">
        <p14:creationId xmlns:p14="http://schemas.microsoft.com/office/powerpoint/2010/main" val="2227165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870E1A-D143-41BA-9432-BD5F9D731C01}" type="slidenum">
              <a:rPr lang="zh-CN" altLang="en-US" smtClean="0"/>
              <a:t>6</a:t>
            </a:fld>
            <a:endParaRPr lang="zh-CN" altLang="en-US"/>
          </a:p>
        </p:txBody>
      </p:sp>
    </p:spTree>
    <p:extLst>
      <p:ext uri="{BB962C8B-B14F-4D97-AF65-F5344CB8AC3E}">
        <p14:creationId xmlns:p14="http://schemas.microsoft.com/office/powerpoint/2010/main" val="164113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870E1A-D143-41BA-9432-BD5F9D731C01}" type="slidenum">
              <a:rPr lang="zh-CN" altLang="en-US" smtClean="0"/>
              <a:t>7</a:t>
            </a:fld>
            <a:endParaRPr lang="zh-CN" altLang="en-US"/>
          </a:p>
        </p:txBody>
      </p:sp>
    </p:spTree>
    <p:extLst>
      <p:ext uri="{BB962C8B-B14F-4D97-AF65-F5344CB8AC3E}">
        <p14:creationId xmlns:p14="http://schemas.microsoft.com/office/powerpoint/2010/main" val="366239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2B621246-A01E-4AFD-9A0F-3701D05640A8}" type="slidenum">
              <a:rPr lang="en-US" altLang="zh-CN" smtClean="0"/>
              <a:pPr/>
              <a:t>8</a:t>
            </a:fld>
            <a:endParaRPr lang="en-US" altLang="zh-CN"/>
          </a:p>
        </p:txBody>
      </p:sp>
    </p:spTree>
    <p:extLst>
      <p:ext uri="{BB962C8B-B14F-4D97-AF65-F5344CB8AC3E}">
        <p14:creationId xmlns:p14="http://schemas.microsoft.com/office/powerpoint/2010/main" val="2150270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870E1A-D143-41BA-9432-BD5F9D731C01}" type="slidenum">
              <a:rPr lang="zh-CN" altLang="en-US" smtClean="0"/>
              <a:t>9</a:t>
            </a:fld>
            <a:endParaRPr lang="zh-CN" altLang="en-US"/>
          </a:p>
        </p:txBody>
      </p:sp>
    </p:spTree>
    <p:extLst>
      <p:ext uri="{BB962C8B-B14F-4D97-AF65-F5344CB8AC3E}">
        <p14:creationId xmlns:p14="http://schemas.microsoft.com/office/powerpoint/2010/main" val="2820546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2B621246-A01E-4AFD-9A0F-3701D05640A8}" type="slidenum">
              <a:rPr lang="en-US" altLang="zh-CN" smtClean="0"/>
              <a:t>10</a:t>
            </a:fld>
            <a:endParaRPr lang="en-US" altLang="zh-CN"/>
          </a:p>
        </p:txBody>
      </p:sp>
    </p:spTree>
    <p:extLst>
      <p:ext uri="{BB962C8B-B14F-4D97-AF65-F5344CB8AC3E}">
        <p14:creationId xmlns:p14="http://schemas.microsoft.com/office/powerpoint/2010/main" val="214368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2B621246-A01E-4AFD-9A0F-3701D05640A8}" type="slidenum">
              <a:rPr lang="en-US" altLang="zh-CN" smtClean="0"/>
              <a:t>11</a:t>
            </a:fld>
            <a:endParaRPr lang="en-US" altLang="zh-CN"/>
          </a:p>
        </p:txBody>
      </p:sp>
    </p:spTree>
    <p:extLst>
      <p:ext uri="{BB962C8B-B14F-4D97-AF65-F5344CB8AC3E}">
        <p14:creationId xmlns:p14="http://schemas.microsoft.com/office/powerpoint/2010/main" val="442901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2B621246-A01E-4AFD-9A0F-3701D05640A8}" type="slidenum">
              <a:rPr lang="en-US" altLang="zh-CN" smtClean="0"/>
              <a:t>12</a:t>
            </a:fld>
            <a:endParaRPr lang="en-US" altLang="zh-CN"/>
          </a:p>
        </p:txBody>
      </p:sp>
    </p:spTree>
    <p:extLst>
      <p:ext uri="{BB962C8B-B14F-4D97-AF65-F5344CB8AC3E}">
        <p14:creationId xmlns:p14="http://schemas.microsoft.com/office/powerpoint/2010/main" val="4259062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2B621246-A01E-4AFD-9A0F-3701D05640A8}" type="slidenum">
              <a:rPr lang="en-US" altLang="zh-CN" smtClean="0"/>
              <a:t>13</a:t>
            </a:fld>
            <a:endParaRPr lang="en-US" altLang="zh-CN"/>
          </a:p>
        </p:txBody>
      </p:sp>
    </p:spTree>
    <p:extLst>
      <p:ext uri="{BB962C8B-B14F-4D97-AF65-F5344CB8AC3E}">
        <p14:creationId xmlns:p14="http://schemas.microsoft.com/office/powerpoint/2010/main" val="1471111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2B621246-A01E-4AFD-9A0F-3701D05640A8}" type="slidenum">
              <a:rPr lang="en-US" altLang="zh-CN" smtClean="0"/>
              <a:t>14</a:t>
            </a:fld>
            <a:endParaRPr lang="en-US" altLang="zh-CN"/>
          </a:p>
        </p:txBody>
      </p:sp>
    </p:spTree>
    <p:extLst>
      <p:ext uri="{BB962C8B-B14F-4D97-AF65-F5344CB8AC3E}">
        <p14:creationId xmlns:p14="http://schemas.microsoft.com/office/powerpoint/2010/main" val="2154505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10626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52828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27273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79524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42679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4602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demo</a:t>
            </a:r>
            <a:r>
              <a:rPr lang="zh-CN" altLang="en-US" dirty="0"/>
              <a:t> 数据集文档</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22454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86502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456896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710459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关联关系（第二个输出）</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4376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621246-A01E-4AFD-9A0F-3701D05640A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431089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6385678"/>
            <a:ext cx="9144000" cy="464714"/>
          </a:xfrm>
          <a:prstGeom prst="rect">
            <a:avLst/>
          </a:prstGeom>
        </p:spPr>
      </p:pic>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962027"/>
            <a:ext cx="9144000" cy="2971031"/>
          </a:xfrm>
          <a:prstGeom prst="rect">
            <a:avLst/>
          </a:prstGeom>
        </p:spPr>
      </p:pic>
      <p:pic>
        <p:nvPicPr>
          <p:cNvPr id="8194" name="Picture 2" descr="index_01"/>
          <p:cNvPicPr>
            <a:picLocks noChangeAspect="1" noChangeArrowheads="1"/>
          </p:cNvPicPr>
          <p:nvPr/>
        </p:nvPicPr>
        <p:blipFill>
          <a:blip r:embed="rId4" cstate="print"/>
          <a:srcRect l="9329" t="17384"/>
          <a:stretch>
            <a:fillRect/>
          </a:stretch>
        </p:blipFill>
        <p:spPr bwMode="auto">
          <a:xfrm>
            <a:off x="250826" y="188913"/>
            <a:ext cx="3673475" cy="773112"/>
          </a:xfrm>
          <a:prstGeom prst="rect">
            <a:avLst/>
          </a:prstGeom>
          <a:noFill/>
        </p:spPr>
      </p:pic>
      <p:sp>
        <p:nvSpPr>
          <p:cNvPr id="8196" name="Rectangle 4"/>
          <p:cNvSpPr>
            <a:spLocks noGrp="1" noChangeArrowheads="1"/>
          </p:cNvSpPr>
          <p:nvPr>
            <p:ph type="subTitle" sz="quarter" idx="1" hasCustomPrompt="1"/>
          </p:nvPr>
        </p:nvSpPr>
        <p:spPr>
          <a:xfrm>
            <a:off x="1475656" y="1721928"/>
            <a:ext cx="5565906" cy="1069975"/>
          </a:xfrm>
        </p:spPr>
        <p:txBody>
          <a:bodyPr lIns="180000" tIns="108000" rIns="144000"/>
          <a:lstStyle>
            <a:lvl1pPr marL="0" indent="0" algn="ctr">
              <a:lnSpc>
                <a:spcPct val="100000"/>
              </a:lnSpc>
              <a:spcBef>
                <a:spcPct val="0"/>
              </a:spcBef>
              <a:buClrTx/>
              <a:buFontTx/>
              <a:buNone/>
              <a:defRPr sz="3200" b="1">
                <a:solidFill>
                  <a:schemeClr val="bg1"/>
                </a:solidFill>
              </a:defRPr>
            </a:lvl1pPr>
          </a:lstStyle>
          <a:p>
            <a:r>
              <a:rPr lang="zh-CN" altLang="en-US" dirty="0"/>
              <a:t>单击此处请编辑本汇报所使用的标题</a:t>
            </a:r>
            <a:endParaRPr lang="fr-FR" dirty="0"/>
          </a:p>
        </p:txBody>
      </p:sp>
      <p:sp>
        <p:nvSpPr>
          <p:cNvPr id="8199" name="Rectangle 7"/>
          <p:cNvSpPr>
            <a:spLocks noGrp="1" noChangeArrowheads="1"/>
          </p:cNvSpPr>
          <p:nvPr>
            <p:ph type="ftr" sz="quarter" idx="3"/>
          </p:nvPr>
        </p:nvSpPr>
        <p:spPr>
          <a:xfrm>
            <a:off x="1619673" y="6471194"/>
            <a:ext cx="4464050" cy="293687"/>
          </a:xfrm>
        </p:spPr>
        <p:txBody>
          <a:bodyPr/>
          <a:lstStyle>
            <a:lvl1pPr algn="ctr">
              <a:defRPr>
                <a:solidFill>
                  <a:schemeClr val="bg1"/>
                </a:solidFill>
              </a:defRPr>
            </a:lvl1pPr>
          </a:lstStyle>
          <a:p>
            <a:r>
              <a:rPr lang="en-GB" altLang="en-US" dirty="0"/>
              <a:t>© </a:t>
            </a:r>
            <a:r>
              <a:rPr lang="en-GB" altLang="zh-CN" dirty="0"/>
              <a:t>2017</a:t>
            </a:r>
            <a:r>
              <a:rPr lang="en-GB" altLang="en-US" dirty="0"/>
              <a:t> </a:t>
            </a:r>
            <a:r>
              <a:rPr lang="en-GB" altLang="zh-CN" dirty="0"/>
              <a:t>BUPT DSSC</a:t>
            </a:r>
            <a:endParaRPr lang="en-US" altLang="zh-CN" dirty="0"/>
          </a:p>
        </p:txBody>
      </p:sp>
      <p:sp>
        <p:nvSpPr>
          <p:cNvPr id="14" name="Rectangle 5"/>
          <p:cNvSpPr>
            <a:spLocks noGrp="1" noChangeArrowheads="1"/>
          </p:cNvSpPr>
          <p:nvPr>
            <p:ph type="ctrTitle" sz="quarter" hasCustomPrompt="1"/>
          </p:nvPr>
        </p:nvSpPr>
        <p:spPr>
          <a:xfrm>
            <a:off x="1134268" y="4412118"/>
            <a:ext cx="6875462" cy="1342584"/>
          </a:xfrm>
        </p:spPr>
        <p:txBody>
          <a:bodyPr lIns="360000" tIns="360000" rIns="360000" bIns="360000">
            <a:spAutoFit/>
          </a:bodyPr>
          <a:lstStyle>
            <a:lvl1pPr algn="ctr">
              <a:lnSpc>
                <a:spcPct val="100000"/>
              </a:lnSpc>
              <a:defRPr sz="2000" b="0">
                <a:solidFill>
                  <a:schemeClr val="tx1"/>
                </a:solidFill>
              </a:defRPr>
            </a:lvl1pPr>
          </a:lstStyle>
          <a:p>
            <a:r>
              <a:rPr lang="zh-CN" altLang="en-US" dirty="0"/>
              <a:t>请在这里编辑汇报人</a:t>
            </a:r>
            <a:br>
              <a:rPr lang="en-US" altLang="zh-CN" dirty="0"/>
            </a:br>
            <a:r>
              <a:rPr lang="zh-CN" altLang="en-US" dirty="0"/>
              <a:t>日期</a:t>
            </a:r>
            <a:endParaRPr lang="fr-FR" dirty="0"/>
          </a:p>
        </p:txBody>
      </p:sp>
    </p:spTree>
    <p:extLst>
      <p:ext uri="{BB962C8B-B14F-4D97-AF65-F5344CB8AC3E}">
        <p14:creationId xmlns:p14="http://schemas.microsoft.com/office/powerpoint/2010/main" val="3238365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marL="457200" indent="-457200">
              <a:buClr>
                <a:schemeClr val="tx1">
                  <a:lumMod val="20000"/>
                  <a:lumOff val="80000"/>
                </a:schemeClr>
              </a:buClr>
              <a:buFont typeface="Arial" panose="020B0604020202020204" pitchFamily="34" charset="0"/>
              <a:buChar char="•"/>
              <a:defRPr/>
            </a:lvl1pPr>
            <a:lvl2pPr>
              <a:buClr>
                <a:schemeClr val="bg2">
                  <a:lumMod val="20000"/>
                  <a:lumOff val="80000"/>
                </a:schemeClr>
              </a:buClr>
              <a:defRPr/>
            </a:lvl2pPr>
            <a:lvl3pPr>
              <a:buClr>
                <a:schemeClr val="bg2">
                  <a:lumMod val="20000"/>
                  <a:lumOff val="80000"/>
                </a:schemeClr>
              </a:buClr>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1958204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结束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1" y="6409542"/>
            <a:ext cx="9144793" cy="463336"/>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962027"/>
            <a:ext cx="9144000" cy="2971031"/>
          </a:xfrm>
          <a:prstGeom prst="rect">
            <a:avLst/>
          </a:prstGeom>
        </p:spPr>
      </p:pic>
      <p:pic>
        <p:nvPicPr>
          <p:cNvPr id="8194" name="Picture 2" descr="index_01"/>
          <p:cNvPicPr>
            <a:picLocks noChangeAspect="1" noChangeArrowheads="1"/>
          </p:cNvPicPr>
          <p:nvPr/>
        </p:nvPicPr>
        <p:blipFill>
          <a:blip r:embed="rId4" cstate="print"/>
          <a:srcRect l="9329" t="17384"/>
          <a:stretch>
            <a:fillRect/>
          </a:stretch>
        </p:blipFill>
        <p:spPr bwMode="auto">
          <a:xfrm>
            <a:off x="250826" y="188913"/>
            <a:ext cx="3673475" cy="773112"/>
          </a:xfrm>
          <a:prstGeom prst="rect">
            <a:avLst/>
          </a:prstGeom>
          <a:noFill/>
        </p:spPr>
      </p:pic>
      <p:sp>
        <p:nvSpPr>
          <p:cNvPr id="8197" name="Rectangle 5"/>
          <p:cNvSpPr>
            <a:spLocks noGrp="1" noChangeArrowheads="1"/>
          </p:cNvSpPr>
          <p:nvPr>
            <p:ph type="ctrTitle" sz="quarter" hasCustomPrompt="1"/>
          </p:nvPr>
        </p:nvSpPr>
        <p:spPr>
          <a:xfrm>
            <a:off x="1115220" y="4476419"/>
            <a:ext cx="6875462" cy="1219474"/>
          </a:xfrm>
        </p:spPr>
        <p:txBody>
          <a:bodyPr lIns="360000" tIns="360000" rIns="360000" bIns="360000">
            <a:spAutoFit/>
          </a:bodyPr>
          <a:lstStyle>
            <a:lvl1pPr algn="ctr">
              <a:lnSpc>
                <a:spcPct val="100000"/>
              </a:lnSpc>
              <a:defRPr i="1" baseline="0">
                <a:solidFill>
                  <a:schemeClr val="tx1"/>
                </a:solidFill>
              </a:defRPr>
            </a:lvl1pPr>
          </a:lstStyle>
          <a:p>
            <a:r>
              <a:rPr lang="fr-FR" dirty="0"/>
              <a:t>THANK YOU!</a:t>
            </a:r>
          </a:p>
        </p:txBody>
      </p:sp>
      <p:sp>
        <p:nvSpPr>
          <p:cNvPr id="8199" name="Rectangle 7"/>
          <p:cNvSpPr>
            <a:spLocks noGrp="1" noChangeArrowheads="1"/>
          </p:cNvSpPr>
          <p:nvPr>
            <p:ph type="ftr" sz="quarter" idx="3"/>
          </p:nvPr>
        </p:nvSpPr>
        <p:spPr>
          <a:xfrm>
            <a:off x="2087563" y="6471196"/>
            <a:ext cx="4464050" cy="293687"/>
          </a:xfrm>
        </p:spPr>
        <p:txBody>
          <a:bodyPr/>
          <a:lstStyle>
            <a:lvl1pPr algn="ctr">
              <a:defRPr>
                <a:solidFill>
                  <a:schemeClr val="bg1"/>
                </a:solidFill>
              </a:defRPr>
            </a:lvl1pPr>
          </a:lstStyle>
          <a:p>
            <a:r>
              <a:rPr lang="en-GB" altLang="en-US" dirty="0"/>
              <a:t>© </a:t>
            </a:r>
            <a:r>
              <a:rPr lang="en-GB" altLang="zh-CN" dirty="0"/>
              <a:t>2017</a:t>
            </a:r>
            <a:r>
              <a:rPr lang="en-GB" altLang="en-US" dirty="0"/>
              <a:t> </a:t>
            </a:r>
            <a:r>
              <a:rPr lang="en-GB" altLang="zh-CN" dirty="0"/>
              <a:t>BUPT DSSC</a:t>
            </a:r>
            <a:endParaRPr lang="en-US" altLang="zh-CN" dirty="0"/>
          </a:p>
        </p:txBody>
      </p:sp>
      <p:sp>
        <p:nvSpPr>
          <p:cNvPr id="11" name="Rectangle 4"/>
          <p:cNvSpPr>
            <a:spLocks noGrp="1" noChangeArrowheads="1"/>
          </p:cNvSpPr>
          <p:nvPr>
            <p:ph type="subTitle" sz="quarter" idx="1" hasCustomPrompt="1"/>
          </p:nvPr>
        </p:nvSpPr>
        <p:spPr>
          <a:xfrm>
            <a:off x="1475656" y="1721928"/>
            <a:ext cx="5565906" cy="1069975"/>
          </a:xfrm>
        </p:spPr>
        <p:txBody>
          <a:bodyPr lIns="180000" tIns="108000" rIns="144000"/>
          <a:lstStyle>
            <a:lvl1pPr marL="0" indent="0" algn="ctr">
              <a:lnSpc>
                <a:spcPct val="100000"/>
              </a:lnSpc>
              <a:spcBef>
                <a:spcPct val="0"/>
              </a:spcBef>
              <a:buClrTx/>
              <a:buFontTx/>
              <a:buNone/>
              <a:defRPr sz="3200" b="1">
                <a:solidFill>
                  <a:schemeClr val="bg1"/>
                </a:solidFill>
              </a:defRPr>
            </a:lvl1pPr>
          </a:lstStyle>
          <a:p>
            <a:r>
              <a:rPr lang="zh-CN" altLang="en-US" dirty="0"/>
              <a:t>单击此处请编辑结束语或重现标题</a:t>
            </a:r>
            <a:endParaRPr lang="fr-FR" dirty="0"/>
          </a:p>
        </p:txBody>
      </p:sp>
    </p:spTree>
    <p:extLst>
      <p:ext uri="{BB962C8B-B14F-4D97-AF65-F5344CB8AC3E}">
        <p14:creationId xmlns:p14="http://schemas.microsoft.com/office/powerpoint/2010/main" val="2344441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2213634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47700" y="1409700"/>
            <a:ext cx="4095750" cy="4856163"/>
          </a:xfrm>
        </p:spPr>
        <p:txBody>
          <a:bodyPr/>
          <a:lstStyle>
            <a:lvl1pPr marL="287655" indent="-287655">
              <a:buClr>
                <a:schemeClr val="bg2">
                  <a:lumMod val="20000"/>
                  <a:lumOff val="80000"/>
                </a:schemeClr>
              </a:buClr>
              <a:buFont typeface="Wingdings" panose="05000000000000000000" pitchFamily="2" charset="2"/>
              <a:buChar char="l"/>
              <a:defRPr sz="2800"/>
            </a:lvl1pPr>
            <a:lvl2pPr>
              <a:buClr>
                <a:schemeClr val="bg2">
                  <a:lumMod val="20000"/>
                  <a:lumOff val="80000"/>
                </a:schemeClr>
              </a:buClr>
              <a:defRPr sz="2400"/>
            </a:lvl2pPr>
            <a:lvl3pPr>
              <a:buClr>
                <a:schemeClr val="bg2">
                  <a:lumMod val="20000"/>
                  <a:lumOff val="80000"/>
                </a:schemeClr>
              </a:buCl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895850" y="1409700"/>
            <a:ext cx="4095750" cy="4856163"/>
          </a:xfrm>
        </p:spPr>
        <p:txBody>
          <a:bodyPr/>
          <a:lstStyle>
            <a:lvl1pPr marL="287655" indent="-287655">
              <a:buClr>
                <a:schemeClr val="bg2">
                  <a:lumMod val="20000"/>
                  <a:lumOff val="80000"/>
                </a:schemeClr>
              </a:buClr>
              <a:buFont typeface="Wingdings" panose="05000000000000000000" pitchFamily="2" charset="2"/>
              <a:buChar char="l"/>
              <a:defRPr sz="2800"/>
            </a:lvl1pPr>
            <a:lvl2pPr>
              <a:buClr>
                <a:schemeClr val="bg2">
                  <a:lumMod val="20000"/>
                  <a:lumOff val="80000"/>
                </a:schemeClr>
              </a:buClr>
              <a:defRPr sz="2400"/>
            </a:lvl2pPr>
            <a:lvl3pPr>
              <a:buClr>
                <a:schemeClr val="bg2">
                  <a:lumMod val="20000"/>
                  <a:lumOff val="80000"/>
                </a:schemeClr>
              </a:buCl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178675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marL="287655" indent="-287655">
              <a:buClr>
                <a:schemeClr val="bg2">
                  <a:lumMod val="20000"/>
                  <a:lumOff val="80000"/>
                </a:schemeClr>
              </a:buClr>
              <a:buFont typeface="Wingdings" panose="05000000000000000000" pitchFamily="2" charset="2"/>
              <a:buChar char="l"/>
              <a:defRPr sz="2400"/>
            </a:lvl1pPr>
            <a:lvl2pPr>
              <a:buClr>
                <a:schemeClr val="bg2">
                  <a:lumMod val="20000"/>
                  <a:lumOff val="80000"/>
                </a:schemeClr>
              </a:buClr>
              <a:defRPr sz="2000"/>
            </a:lvl2pPr>
            <a:lvl3pPr>
              <a:buClr>
                <a:schemeClr val="bg2">
                  <a:lumMod val="20000"/>
                  <a:lumOff val="80000"/>
                </a:schemeClr>
              </a:buCl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marL="342900" indent="-342900">
              <a:buClr>
                <a:schemeClr val="bg2">
                  <a:lumMod val="20000"/>
                  <a:lumOff val="80000"/>
                </a:schemeClr>
              </a:buClr>
              <a:buFont typeface="Wingdings" panose="05000000000000000000" pitchFamily="2" charset="2"/>
              <a:buChar char="l"/>
              <a:defRPr sz="2400"/>
            </a:lvl1pPr>
            <a:lvl2pPr>
              <a:buClr>
                <a:schemeClr val="bg2">
                  <a:lumMod val="20000"/>
                  <a:lumOff val="80000"/>
                </a:schemeClr>
              </a:buClr>
              <a:defRPr sz="2000"/>
            </a:lvl2pPr>
            <a:lvl3pPr>
              <a:buClr>
                <a:schemeClr val="bg2">
                  <a:lumMod val="20000"/>
                  <a:lumOff val="80000"/>
                </a:schemeClr>
              </a:buCl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2123705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839116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3196240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81937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3716734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81826" y="2"/>
            <a:ext cx="2111375" cy="62658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47701" y="2"/>
            <a:ext cx="6181725" cy="62658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3"/>
          <p:cNvSpPr>
            <a:spLocks noGrp="1"/>
          </p:cNvSpPr>
          <p:nvPr>
            <p:ph type="ftr" sz="quarter" idx="10"/>
          </p:nvPr>
        </p:nvSpPr>
        <p:spPr>
          <a:xfrm>
            <a:off x="1979613" y="6564315"/>
            <a:ext cx="4896643" cy="293687"/>
          </a:xfrm>
        </p:spPr>
        <p:txBody>
          <a:bodyPr/>
          <a:lstStyle>
            <a:lvl1pPr>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Tree>
    <p:extLst>
      <p:ext uri="{BB962C8B-B14F-4D97-AF65-F5344CB8AC3E}">
        <p14:creationId xmlns:p14="http://schemas.microsoft.com/office/powerpoint/2010/main" val="2386104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r>
              <a:rPr lang="en-GB" altLang="en-US" dirty="0"/>
              <a:t>© </a:t>
            </a:r>
            <a:r>
              <a:rPr lang="en-GB" altLang="zh-CN" dirty="0"/>
              <a:t>2017</a:t>
            </a:r>
            <a:r>
              <a:rPr lang="en-GB" altLang="en-US" dirty="0"/>
              <a:t> </a:t>
            </a:r>
            <a:r>
              <a:rPr lang="en-GB" altLang="zh-CN" dirty="0"/>
              <a:t>BUPT DSSC            </a:t>
            </a:r>
            <a:r>
              <a:rPr lang="zh-CN" altLang="en-GB"/>
              <a:t>北京邮电大学 </a:t>
            </a:r>
            <a:r>
              <a:rPr lang="zh-CN" altLang="en-US"/>
              <a:t>数据科学与服务</a:t>
            </a:r>
            <a:r>
              <a:rPr lang="zh-CN" altLang="en-GB"/>
              <a:t>中心</a:t>
            </a:r>
            <a:endParaRPr lang="zh-CN" altLang="en-US" dirty="0"/>
          </a:p>
        </p:txBody>
      </p:sp>
    </p:spTree>
    <p:extLst>
      <p:ext uri="{BB962C8B-B14F-4D97-AF65-F5344CB8AC3E}">
        <p14:creationId xmlns:p14="http://schemas.microsoft.com/office/powerpoint/2010/main" val="914247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r>
              <a:rPr lang="en-GB" altLang="en-US" dirty="0"/>
              <a:t>© </a:t>
            </a:r>
            <a:r>
              <a:rPr lang="en-GB" altLang="zh-CN" dirty="0"/>
              <a:t>2017</a:t>
            </a:r>
            <a:r>
              <a:rPr lang="en-GB" altLang="en-US" dirty="0"/>
              <a:t> </a:t>
            </a:r>
            <a:r>
              <a:rPr lang="en-GB" altLang="zh-CN" dirty="0"/>
              <a:t>BUPT DSSC            </a:t>
            </a:r>
            <a:r>
              <a:rPr lang="zh-CN" altLang="en-GB"/>
              <a:t>北京邮电大学 </a:t>
            </a:r>
            <a:r>
              <a:rPr lang="zh-CN" altLang="en-US"/>
              <a:t>数据科学与服务</a:t>
            </a:r>
            <a:r>
              <a:rPr lang="zh-CN" altLang="en-GB"/>
              <a:t>中心</a:t>
            </a:r>
            <a:endParaRPr lang="zh-CN" altLang="en-US" dirty="0"/>
          </a:p>
        </p:txBody>
      </p:sp>
    </p:spTree>
    <p:extLst>
      <p:ext uri="{BB962C8B-B14F-4D97-AF65-F5344CB8AC3E}">
        <p14:creationId xmlns:p14="http://schemas.microsoft.com/office/powerpoint/2010/main" val="1103258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15">
            <a:extLst>
              <a:ext uri="{28A0092B-C50C-407E-A947-70E740481C1C}">
                <a14:useLocalDpi xmlns:a14="http://schemas.microsoft.com/office/drawing/2010/main" val="0"/>
              </a:ext>
            </a:extLst>
          </a:blip>
          <a:srcRect l="8470" r="22631"/>
          <a:stretch>
            <a:fillRect/>
          </a:stretch>
        </p:blipFill>
        <p:spPr>
          <a:xfrm>
            <a:off x="2699793" y="0"/>
            <a:ext cx="6444208" cy="1146838"/>
          </a:xfrm>
          <a:prstGeom prst="rect">
            <a:avLst/>
          </a:prstGeom>
        </p:spPr>
      </p:pic>
      <p:pic>
        <p:nvPicPr>
          <p:cNvPr id="5" name="图片 4"/>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7938" y="6528727"/>
            <a:ext cx="9144000" cy="342085"/>
          </a:xfrm>
          <a:prstGeom prst="rect">
            <a:avLst/>
          </a:prstGeom>
        </p:spPr>
      </p:pic>
      <p:sp>
        <p:nvSpPr>
          <p:cNvPr id="7172" name="Rectangle 4"/>
          <p:cNvSpPr>
            <a:spLocks noGrp="1" noChangeArrowheads="1"/>
          </p:cNvSpPr>
          <p:nvPr>
            <p:ph type="title"/>
          </p:nvPr>
        </p:nvSpPr>
        <p:spPr bwMode="auto">
          <a:xfrm>
            <a:off x="2598738" y="120987"/>
            <a:ext cx="6537325" cy="909638"/>
          </a:xfrm>
          <a:prstGeom prst="rect">
            <a:avLst/>
          </a:prstGeom>
          <a:noFill/>
          <a:ln w="9525">
            <a:noFill/>
            <a:miter lim="800000"/>
          </a:ln>
          <a:effectLst/>
        </p:spPr>
        <p:txBody>
          <a:bodyPr vert="horz" wrap="square" lIns="180000" tIns="36000" rIns="108000" bIns="36000" numCol="1" anchor="ctr" anchorCtr="0" compatLnSpc="1"/>
          <a:lstStyle/>
          <a:p>
            <a:pPr lvl="0"/>
            <a:r>
              <a:rPr lang="fr-FR" dirty="0"/>
              <a:t>Cliquez pour modifier le style du titre du masque</a:t>
            </a:r>
          </a:p>
        </p:txBody>
      </p:sp>
      <p:sp>
        <p:nvSpPr>
          <p:cNvPr id="7173" name="Rectangle 5"/>
          <p:cNvSpPr>
            <a:spLocks noGrp="1" noChangeArrowheads="1"/>
          </p:cNvSpPr>
          <p:nvPr>
            <p:ph type="body" idx="1"/>
          </p:nvPr>
        </p:nvSpPr>
        <p:spPr bwMode="auto">
          <a:xfrm>
            <a:off x="647700" y="1409700"/>
            <a:ext cx="8343900" cy="4856163"/>
          </a:xfrm>
          <a:prstGeom prst="rect">
            <a:avLst/>
          </a:prstGeom>
          <a:noFill/>
          <a:ln w="9525">
            <a:noFill/>
            <a:miter lim="800000"/>
          </a:ln>
          <a:effectLst/>
        </p:spPr>
        <p:txBody>
          <a:bodyPr vert="horz" wrap="square" lIns="91440" tIns="45720" rIns="91440" bIns="45720" numCol="1" anchor="t" anchorCtr="0" compatLnSpc="1"/>
          <a:lstStyle/>
          <a:p>
            <a:pPr lvl="0"/>
            <a:r>
              <a:rPr lang="fr-FR" dirty="0"/>
              <a:t>Premier niveau</a:t>
            </a:r>
          </a:p>
          <a:p>
            <a:pPr lvl="1"/>
            <a:r>
              <a:rPr lang="fr-FR" dirty="0"/>
              <a:t>Deuxième niveau</a:t>
            </a:r>
          </a:p>
          <a:p>
            <a:pPr lvl="2"/>
            <a:r>
              <a:rPr lang="fr-FR" dirty="0"/>
              <a:t>Troisième niveau</a:t>
            </a:r>
          </a:p>
          <a:p>
            <a:pPr lvl="3"/>
            <a:r>
              <a:rPr lang="fr-FR" dirty="0"/>
              <a:t>Quatrième niveau</a:t>
            </a:r>
          </a:p>
        </p:txBody>
      </p:sp>
      <p:sp>
        <p:nvSpPr>
          <p:cNvPr id="7174" name="Rectangle 6"/>
          <p:cNvSpPr>
            <a:spLocks noGrp="1" noChangeArrowheads="1"/>
          </p:cNvSpPr>
          <p:nvPr>
            <p:ph type="ftr" sz="quarter" idx="3"/>
          </p:nvPr>
        </p:nvSpPr>
        <p:spPr bwMode="auto">
          <a:xfrm>
            <a:off x="2332037" y="6540748"/>
            <a:ext cx="4464050" cy="293687"/>
          </a:xfrm>
          <a:prstGeom prst="rect">
            <a:avLst/>
          </a:prstGeom>
          <a:noFill/>
          <a:ln w="9525">
            <a:noFill/>
            <a:miter lim="800000"/>
          </a:ln>
          <a:effectLst/>
        </p:spPr>
        <p:txBody>
          <a:bodyPr vert="horz" wrap="square" lIns="91440" tIns="45720" rIns="91440" bIns="45720" numCol="1" anchor="ctr" anchorCtr="0" compatLnSpc="1"/>
          <a:lstStyle>
            <a:lvl1pPr>
              <a:lnSpc>
                <a:spcPct val="100000"/>
              </a:lnSpc>
              <a:defRPr sz="1200">
                <a:solidFill>
                  <a:schemeClr val="bg1"/>
                </a:solidFill>
              </a:defRPr>
            </a:lvl1pPr>
          </a:lstStyle>
          <a:p>
            <a:r>
              <a:rPr lang="en-GB" altLang="en-US" dirty="0"/>
              <a:t>© </a:t>
            </a:r>
            <a:r>
              <a:rPr lang="en-GB" altLang="zh-CN" dirty="0"/>
              <a:t>2017</a:t>
            </a:r>
            <a:r>
              <a:rPr lang="en-GB" altLang="en-US" dirty="0"/>
              <a:t> </a:t>
            </a:r>
            <a:r>
              <a:rPr lang="en-GB" altLang="zh-CN" dirty="0"/>
              <a:t>BUPT DSSC            </a:t>
            </a:r>
            <a:r>
              <a:rPr lang="zh-CN" altLang="en-GB" dirty="0"/>
              <a:t>北京邮电大学 </a:t>
            </a:r>
            <a:r>
              <a:rPr lang="zh-CN" altLang="en-US" dirty="0"/>
              <a:t>数据科学与服务</a:t>
            </a:r>
            <a:r>
              <a:rPr lang="zh-CN" altLang="en-GB" dirty="0"/>
              <a:t>中心</a:t>
            </a:r>
            <a:endParaRPr lang="zh-CN" altLang="en-US" dirty="0"/>
          </a:p>
        </p:txBody>
      </p:sp>
      <p:sp>
        <p:nvSpPr>
          <p:cNvPr id="7175" name="Text Box 7"/>
          <p:cNvSpPr txBox="1">
            <a:spLocks noChangeArrowheads="1"/>
          </p:cNvSpPr>
          <p:nvPr/>
        </p:nvSpPr>
        <p:spPr bwMode="auto">
          <a:xfrm>
            <a:off x="5867400" y="6591300"/>
            <a:ext cx="3276600" cy="273050"/>
          </a:xfrm>
          <a:prstGeom prst="rect">
            <a:avLst/>
          </a:prstGeom>
          <a:noFill/>
          <a:ln w="19050">
            <a:noFill/>
            <a:miter lim="800000"/>
          </a:ln>
          <a:effectLst/>
        </p:spPr>
        <p:txBody>
          <a:bodyPr lIns="180000" rIns="180000" anchor="ctr">
            <a:spAutoFit/>
          </a:bodyPr>
          <a:lstStyle/>
          <a:p>
            <a:pPr algn="r">
              <a:lnSpc>
                <a:spcPct val="85000"/>
              </a:lnSpc>
            </a:pPr>
            <a:fld id="{9C43F2B4-9A52-4B48-A19E-9C433C9A294B}" type="slidenum">
              <a:rPr lang="en-GB" altLang="en-US" sz="1400">
                <a:solidFill>
                  <a:schemeClr val="bg1"/>
                </a:solidFill>
              </a:rPr>
              <a:t>‹#›</a:t>
            </a:fld>
            <a:endParaRPr lang="en-US" altLang="zh-CN" sz="1400" dirty="0">
              <a:solidFill>
                <a:schemeClr val="bg1"/>
              </a:solidFill>
            </a:endParaRPr>
          </a:p>
        </p:txBody>
      </p:sp>
      <p:sp>
        <p:nvSpPr>
          <p:cNvPr id="7176" name="AutoShape 8"/>
          <p:cNvSpPr>
            <a:spLocks noChangeArrowheads="1"/>
          </p:cNvSpPr>
          <p:nvPr/>
        </p:nvSpPr>
        <p:spPr bwMode="auto">
          <a:xfrm>
            <a:off x="2257970" y="16802"/>
            <a:ext cx="801863" cy="1118013"/>
          </a:xfrm>
          <a:prstGeom prst="flowChartDelay">
            <a:avLst/>
          </a:prstGeom>
          <a:solidFill>
            <a:schemeClr val="bg1"/>
          </a:solidFill>
          <a:ln w="19050">
            <a:solidFill>
              <a:schemeClr val="bg1"/>
            </a:solidFill>
            <a:miter lim="800000"/>
          </a:ln>
          <a:effectLst/>
        </p:spPr>
        <p:txBody>
          <a:bodyPr wrap="none" anchor="ctr"/>
          <a:lstStyle/>
          <a:p>
            <a:endParaRPr lang="zh-CN" altLang="en-US" sz="3600"/>
          </a:p>
        </p:txBody>
      </p:sp>
      <p:pic>
        <p:nvPicPr>
          <p:cNvPr id="7177" name="Picture 9" descr="index_01"/>
          <p:cNvPicPr>
            <a:picLocks noChangeAspect="1" noChangeArrowheads="1"/>
          </p:cNvPicPr>
          <p:nvPr/>
        </p:nvPicPr>
        <p:blipFill>
          <a:blip r:embed="rId17" cstate="print"/>
          <a:srcRect l="9329" t="17384"/>
          <a:stretch>
            <a:fillRect/>
          </a:stretch>
        </p:blipFill>
        <p:spPr bwMode="auto">
          <a:xfrm>
            <a:off x="287339" y="260350"/>
            <a:ext cx="2484437" cy="522288"/>
          </a:xfrm>
          <a:prstGeom prst="rect">
            <a:avLst/>
          </a:prstGeom>
          <a:noFill/>
        </p:spPr>
      </p:pic>
    </p:spTree>
    <p:extLst>
      <p:ext uri="{BB962C8B-B14F-4D97-AF65-F5344CB8AC3E}">
        <p14:creationId xmlns:p14="http://schemas.microsoft.com/office/powerpoint/2010/main" val="25294146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sldNum="0" hdr="0" dt="0"/>
  <p:txStyles>
    <p:titleStyle>
      <a:lvl1pPr algn="r" rtl="0" eaLnBrk="0" fontAlgn="base" hangingPunct="0">
        <a:lnSpc>
          <a:spcPct val="75000"/>
        </a:lnSpc>
        <a:spcBef>
          <a:spcPct val="0"/>
        </a:spcBef>
        <a:spcAft>
          <a:spcPct val="0"/>
        </a:spcAft>
        <a:defRPr sz="3200" b="1">
          <a:solidFill>
            <a:schemeClr val="bg1"/>
          </a:solidFill>
          <a:latin typeface="+mj-lt"/>
          <a:ea typeface="+mj-ea"/>
          <a:cs typeface="+mj-cs"/>
        </a:defRPr>
      </a:lvl1pPr>
      <a:lvl2pPr algn="r" rtl="0" eaLnBrk="0" fontAlgn="base" hangingPunct="0">
        <a:lnSpc>
          <a:spcPct val="75000"/>
        </a:lnSpc>
        <a:spcBef>
          <a:spcPct val="0"/>
        </a:spcBef>
        <a:spcAft>
          <a:spcPct val="0"/>
        </a:spcAft>
        <a:defRPr sz="3200" b="1">
          <a:solidFill>
            <a:schemeClr val="tx1"/>
          </a:solidFill>
          <a:latin typeface="Arial" panose="020B0604020202020204" pitchFamily="34" charset="0"/>
        </a:defRPr>
      </a:lvl2pPr>
      <a:lvl3pPr algn="r" rtl="0" eaLnBrk="0" fontAlgn="base" hangingPunct="0">
        <a:lnSpc>
          <a:spcPct val="75000"/>
        </a:lnSpc>
        <a:spcBef>
          <a:spcPct val="0"/>
        </a:spcBef>
        <a:spcAft>
          <a:spcPct val="0"/>
        </a:spcAft>
        <a:defRPr sz="3200" b="1">
          <a:solidFill>
            <a:schemeClr val="tx1"/>
          </a:solidFill>
          <a:latin typeface="Arial" panose="020B0604020202020204" pitchFamily="34" charset="0"/>
        </a:defRPr>
      </a:lvl3pPr>
      <a:lvl4pPr algn="r" rtl="0" eaLnBrk="0" fontAlgn="base" hangingPunct="0">
        <a:lnSpc>
          <a:spcPct val="75000"/>
        </a:lnSpc>
        <a:spcBef>
          <a:spcPct val="0"/>
        </a:spcBef>
        <a:spcAft>
          <a:spcPct val="0"/>
        </a:spcAft>
        <a:defRPr sz="3200" b="1">
          <a:solidFill>
            <a:schemeClr val="tx1"/>
          </a:solidFill>
          <a:latin typeface="Arial" panose="020B0604020202020204" pitchFamily="34" charset="0"/>
        </a:defRPr>
      </a:lvl4pPr>
      <a:lvl5pPr algn="r" rtl="0" eaLnBrk="0" fontAlgn="base" hangingPunct="0">
        <a:lnSpc>
          <a:spcPct val="75000"/>
        </a:lnSpc>
        <a:spcBef>
          <a:spcPct val="0"/>
        </a:spcBef>
        <a:spcAft>
          <a:spcPct val="0"/>
        </a:spcAft>
        <a:defRPr sz="3200" b="1">
          <a:solidFill>
            <a:schemeClr val="tx1"/>
          </a:solidFill>
          <a:latin typeface="Arial" panose="020B0604020202020204" pitchFamily="34" charset="0"/>
        </a:defRPr>
      </a:lvl5pPr>
      <a:lvl6pPr marL="457200" algn="r" rtl="0" eaLnBrk="0" fontAlgn="base" hangingPunct="0">
        <a:lnSpc>
          <a:spcPct val="75000"/>
        </a:lnSpc>
        <a:spcBef>
          <a:spcPct val="0"/>
        </a:spcBef>
        <a:spcAft>
          <a:spcPct val="0"/>
        </a:spcAft>
        <a:defRPr sz="3200" b="1">
          <a:solidFill>
            <a:schemeClr val="tx1"/>
          </a:solidFill>
          <a:latin typeface="Arial" panose="020B0604020202020204" pitchFamily="34" charset="0"/>
        </a:defRPr>
      </a:lvl6pPr>
      <a:lvl7pPr marL="914400" algn="r" rtl="0" eaLnBrk="0" fontAlgn="base" hangingPunct="0">
        <a:lnSpc>
          <a:spcPct val="75000"/>
        </a:lnSpc>
        <a:spcBef>
          <a:spcPct val="0"/>
        </a:spcBef>
        <a:spcAft>
          <a:spcPct val="0"/>
        </a:spcAft>
        <a:defRPr sz="3200" b="1">
          <a:solidFill>
            <a:schemeClr val="tx1"/>
          </a:solidFill>
          <a:latin typeface="Arial" panose="020B0604020202020204" pitchFamily="34" charset="0"/>
        </a:defRPr>
      </a:lvl7pPr>
      <a:lvl8pPr marL="1371600" algn="r" rtl="0" eaLnBrk="0" fontAlgn="base" hangingPunct="0">
        <a:lnSpc>
          <a:spcPct val="75000"/>
        </a:lnSpc>
        <a:spcBef>
          <a:spcPct val="0"/>
        </a:spcBef>
        <a:spcAft>
          <a:spcPct val="0"/>
        </a:spcAft>
        <a:defRPr sz="3200" b="1">
          <a:solidFill>
            <a:schemeClr val="tx1"/>
          </a:solidFill>
          <a:latin typeface="Arial" panose="020B0604020202020204" pitchFamily="34" charset="0"/>
        </a:defRPr>
      </a:lvl8pPr>
      <a:lvl9pPr marL="1828800" algn="r" rtl="0" eaLnBrk="0" fontAlgn="base" hangingPunct="0">
        <a:lnSpc>
          <a:spcPct val="75000"/>
        </a:lnSpc>
        <a:spcBef>
          <a:spcPct val="0"/>
        </a:spcBef>
        <a:spcAft>
          <a:spcPct val="0"/>
        </a:spcAft>
        <a:defRPr sz="3200" b="1">
          <a:solidFill>
            <a:schemeClr val="tx1"/>
          </a:solidFill>
          <a:latin typeface="Arial" panose="020B0604020202020204" pitchFamily="34" charset="0"/>
        </a:defRPr>
      </a:lvl9pPr>
    </p:titleStyle>
    <p:bodyStyle>
      <a:lvl1pPr marL="287655" indent="-287655" algn="l" rtl="0" eaLnBrk="0" fontAlgn="base" hangingPunct="0">
        <a:lnSpc>
          <a:spcPct val="90000"/>
        </a:lnSpc>
        <a:spcBef>
          <a:spcPct val="50000"/>
        </a:spcBef>
        <a:spcAft>
          <a:spcPct val="0"/>
        </a:spcAft>
        <a:buClr>
          <a:schemeClr val="bg2">
            <a:lumMod val="20000"/>
            <a:lumOff val="80000"/>
          </a:schemeClr>
        </a:buClr>
        <a:buFont typeface="Wingdings" panose="05000000000000000000" pitchFamily="2" charset="2"/>
        <a:buChar char=""/>
        <a:defRPr sz="2800">
          <a:solidFill>
            <a:schemeClr val="tx1"/>
          </a:solidFill>
          <a:latin typeface="+mn-lt"/>
          <a:ea typeface="+mn-ea"/>
          <a:cs typeface="+mn-cs"/>
        </a:defRPr>
      </a:lvl1pPr>
      <a:lvl2pPr marL="665480" indent="-187325" algn="l" rtl="0" eaLnBrk="0" fontAlgn="base" hangingPunct="0">
        <a:lnSpc>
          <a:spcPct val="90000"/>
        </a:lnSpc>
        <a:spcBef>
          <a:spcPct val="50000"/>
        </a:spcBef>
        <a:spcAft>
          <a:spcPct val="0"/>
        </a:spcAft>
        <a:buClr>
          <a:schemeClr val="bg2">
            <a:lumMod val="20000"/>
            <a:lumOff val="80000"/>
          </a:schemeClr>
        </a:buClr>
        <a:buFont typeface="Wingdings" panose="05000000000000000000" pitchFamily="2" charset="2"/>
        <a:buChar char=""/>
        <a:defRPr sz="2400">
          <a:solidFill>
            <a:schemeClr val="tx1"/>
          </a:solidFill>
          <a:latin typeface="+mn-lt"/>
        </a:defRPr>
      </a:lvl2pPr>
      <a:lvl3pPr marL="1031875" indent="-176530" algn="l" rtl="0" eaLnBrk="0" fontAlgn="base" hangingPunct="0">
        <a:lnSpc>
          <a:spcPct val="90000"/>
        </a:lnSpc>
        <a:spcBef>
          <a:spcPct val="50000"/>
        </a:spcBef>
        <a:spcAft>
          <a:spcPct val="0"/>
        </a:spcAft>
        <a:buClr>
          <a:schemeClr val="bg2">
            <a:lumMod val="20000"/>
            <a:lumOff val="80000"/>
          </a:schemeClr>
        </a:buClr>
        <a:buFont typeface="Wingdings" panose="05000000000000000000" pitchFamily="2" charset="2"/>
        <a:buChar char="ú"/>
        <a:defRPr sz="2000">
          <a:solidFill>
            <a:schemeClr val="tx1"/>
          </a:solidFill>
          <a:latin typeface="+mn-lt"/>
        </a:defRPr>
      </a:lvl3pPr>
      <a:lvl4pPr marL="1543050" indent="-228600" algn="l" rtl="0" eaLnBrk="0" fontAlgn="base" hangingPunct="0">
        <a:spcBef>
          <a:spcPct val="20000"/>
        </a:spcBef>
        <a:spcAft>
          <a:spcPct val="0"/>
        </a:spcAft>
        <a:buChar char="–"/>
        <a:defRPr>
          <a:solidFill>
            <a:schemeClr val="tx1"/>
          </a:solidFill>
          <a:latin typeface="+mn-lt"/>
        </a:defRPr>
      </a:lvl4pPr>
      <a:lvl5pPr marL="1962150" indent="-228600" algn="l" rtl="0" eaLnBrk="0" fontAlgn="base" hangingPunct="0">
        <a:spcBef>
          <a:spcPct val="20000"/>
        </a:spcBef>
        <a:spcAft>
          <a:spcPct val="0"/>
        </a:spcAft>
        <a:buChar char="»"/>
        <a:defRPr sz="2200">
          <a:solidFill>
            <a:schemeClr val="tx1"/>
          </a:solidFill>
          <a:latin typeface="+mn-lt"/>
        </a:defRPr>
      </a:lvl5pPr>
      <a:lvl6pPr marL="2419350" indent="-228600" algn="l" rtl="0" eaLnBrk="0" fontAlgn="base" hangingPunct="0">
        <a:spcBef>
          <a:spcPct val="20000"/>
        </a:spcBef>
        <a:spcAft>
          <a:spcPct val="0"/>
        </a:spcAft>
        <a:buChar char="»"/>
        <a:defRPr sz="2200">
          <a:solidFill>
            <a:schemeClr val="tx1"/>
          </a:solidFill>
          <a:latin typeface="+mn-lt"/>
        </a:defRPr>
      </a:lvl6pPr>
      <a:lvl7pPr marL="2876550" indent="-228600" algn="l" rtl="0" eaLnBrk="0" fontAlgn="base" hangingPunct="0">
        <a:spcBef>
          <a:spcPct val="20000"/>
        </a:spcBef>
        <a:spcAft>
          <a:spcPct val="0"/>
        </a:spcAft>
        <a:buChar char="»"/>
        <a:defRPr sz="2200">
          <a:solidFill>
            <a:schemeClr val="tx1"/>
          </a:solidFill>
          <a:latin typeface="+mn-lt"/>
        </a:defRPr>
      </a:lvl7pPr>
      <a:lvl8pPr marL="3333750" indent="-228600" algn="l" rtl="0" eaLnBrk="0" fontAlgn="base" hangingPunct="0">
        <a:spcBef>
          <a:spcPct val="20000"/>
        </a:spcBef>
        <a:spcAft>
          <a:spcPct val="0"/>
        </a:spcAft>
        <a:buChar char="»"/>
        <a:defRPr sz="2200">
          <a:solidFill>
            <a:schemeClr val="tx1"/>
          </a:solidFill>
          <a:latin typeface="+mn-lt"/>
        </a:defRPr>
      </a:lvl8pPr>
      <a:lvl9pPr marL="3790950" indent="-228600" algn="l" rtl="0" eaLnBrk="0" fontAlgn="base" hangingPunct="0">
        <a:spcBef>
          <a:spcPct val="20000"/>
        </a:spcBef>
        <a:spcAft>
          <a:spcPct val="0"/>
        </a:spcAft>
        <a:buChar char="»"/>
        <a:defRPr sz="22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21.xml.rels><?xml version="1.0" encoding="UTF-8" standalone="yes"?>
<Relationships xmlns="http://schemas.openxmlformats.org/package/2006/relationships"><Relationship Id="rId3" Type="http://schemas.openxmlformats.org/officeDocument/2006/relationships/hyperlink" Target="https://scikit-learn.org/stable/modules/generated/sklearn.datasets.load_boston.html?highlight=load_boston#sklearn.datasets.load_bosto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hyperlink" Target="https://matplotlib.org/stable/contents.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scikit-learn.org/stable/modules/classes.html?highlight=feature_select#module-sklearn.feature_selection" TargetMode="External"/><Relationship Id="rId5" Type="http://schemas.openxmlformats.org/officeDocument/2006/relationships/hyperlink" Target="https://scikit-learn.org/stable/modules/generated/sklearn.preprocessing.StandardScaler.html?highlight=stand#sklearn.preprocessing.StandardScaler" TargetMode="External"/><Relationship Id="rId4" Type="http://schemas.openxmlformats.org/officeDocument/2006/relationships/hyperlink" Target="https://scikit-learn.org/stable/modules/generated/sklearn.datasets.load_boston.html?highlight=load_boston#sklearn.datasets.load_boston"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scikit-learn.org/stable/modules/generated/sklearn.datasets.load_boston.html?highlight=load_boston#sklearn.datasets.load_boston"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hyperlink" Target="https://scikit-learn.org/stable/modules/generated/sklearn.linear_model.LinearRegression.html#sklearn.linear_model.LinearRegression"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sz="quarter" idx="1"/>
          </p:nvPr>
        </p:nvSpPr>
        <p:spPr>
          <a:xfrm>
            <a:off x="431540" y="1988840"/>
            <a:ext cx="8280920" cy="1069975"/>
          </a:xfrm>
        </p:spPr>
        <p:txBody>
          <a:bodyPr/>
          <a:lstStyle/>
          <a:p>
            <a:r>
              <a:rPr lang="zh-CN" altLang="en-US" dirty="0">
                <a:latin typeface="宋体" panose="02010600030101010101" pitchFamily="2" charset="-122"/>
                <a:ea typeface="宋体" panose="02010600030101010101" pitchFamily="2" charset="-122"/>
              </a:rPr>
              <a:t>实验六</a:t>
            </a:r>
            <a:r>
              <a:rPr lang="en-US" altLang="zh-CN" dirty="0">
                <a:latin typeface="宋体" panose="02010600030101010101" pitchFamily="2" charset="-122"/>
                <a:ea typeface="宋体" panose="02010600030101010101" pitchFamily="2" charset="-122"/>
              </a:rPr>
              <a:t>—SVM</a:t>
            </a:r>
            <a:r>
              <a:rPr lang="zh-CN" altLang="en-US" dirty="0">
                <a:latin typeface="宋体" panose="02010600030101010101" pitchFamily="2" charset="-122"/>
                <a:ea typeface="宋体" panose="02010600030101010101" pitchFamily="2" charset="-122"/>
              </a:rPr>
              <a:t>拓展实验</a:t>
            </a:r>
          </a:p>
        </p:txBody>
      </p:sp>
    </p:spTree>
    <p:extLst>
      <p:ext uri="{BB962C8B-B14F-4D97-AF65-F5344CB8AC3E}">
        <p14:creationId xmlns:p14="http://schemas.microsoft.com/office/powerpoint/2010/main" val="906638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39FAF-16D0-4B5E-8CEE-460513A840D3}"/>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3" name="内容占位符 2">
            <a:extLst>
              <a:ext uri="{FF2B5EF4-FFF2-40B4-BE49-F238E27FC236}">
                <a16:creationId xmlns:a16="http://schemas.microsoft.com/office/drawing/2014/main" id="{548B1DB4-7FD9-4C64-8403-E161166C304A}"/>
              </a:ext>
            </a:extLst>
          </p:cNvPr>
          <p:cNvSpPr>
            <a:spLocks noGrp="1"/>
          </p:cNvSpPr>
          <p:nvPr>
            <p:ph idx="1"/>
          </p:nvPr>
        </p:nvSpPr>
        <p:spPr/>
        <p:txBody>
          <a:bodyPr/>
          <a:lstStyle/>
          <a:p>
            <a:pPr>
              <a:buFont typeface="Wingdings" panose="05000000000000000000" pitchFamily="2" charset="2"/>
              <a:buChar char="l"/>
            </a:pPr>
            <a:r>
              <a:rPr lang="en-US" altLang="zh-CN" dirty="0"/>
              <a:t>SVM</a:t>
            </a:r>
            <a:r>
              <a:rPr lang="zh-CN" altLang="en-US" dirty="0"/>
              <a:t>（</a:t>
            </a:r>
            <a:r>
              <a:rPr lang="en-US" altLang="zh-CN" dirty="0"/>
              <a:t>Support Vector Machine</a:t>
            </a:r>
            <a:r>
              <a:rPr lang="zh-CN" altLang="en-US" dirty="0"/>
              <a:t>）</a:t>
            </a:r>
            <a:endParaRPr lang="en-US" altLang="zh-CN" dirty="0"/>
          </a:p>
          <a:p>
            <a:r>
              <a:rPr lang="en-US" altLang="zh-CN" dirty="0"/>
              <a:t>SVM</a:t>
            </a:r>
            <a:r>
              <a:rPr lang="zh-CN" altLang="en-US" dirty="0"/>
              <a:t>算法是一个分类算法，</a:t>
            </a:r>
            <a:r>
              <a:rPr lang="en-US" altLang="zh-CN" dirty="0"/>
              <a:t>SVM</a:t>
            </a:r>
            <a:r>
              <a:rPr lang="zh-CN" altLang="en-US" dirty="0"/>
              <a:t>算法最基本的思想就是基于训练集在样本空间中找到一个划分超平面，将不同类别的样本分开。</a:t>
            </a:r>
          </a:p>
        </p:txBody>
      </p:sp>
      <p:sp>
        <p:nvSpPr>
          <p:cNvPr id="11" name="文本框 10">
            <a:extLst>
              <a:ext uri="{FF2B5EF4-FFF2-40B4-BE49-F238E27FC236}">
                <a16:creationId xmlns:a16="http://schemas.microsoft.com/office/drawing/2014/main" id="{872BE10A-9C33-427F-B26E-B8418F44552F}"/>
              </a:ext>
            </a:extLst>
          </p:cNvPr>
          <p:cNvSpPr txBox="1"/>
          <p:nvPr/>
        </p:nvSpPr>
        <p:spPr>
          <a:xfrm>
            <a:off x="4968044" y="4314510"/>
            <a:ext cx="3816424" cy="1384995"/>
          </a:xfrm>
          <a:prstGeom prst="rect">
            <a:avLst/>
          </a:prstGeom>
          <a:noFill/>
        </p:spPr>
        <p:txBody>
          <a:bodyPr wrap="square" rtlCol="0">
            <a:spAutoFit/>
          </a:bodyPr>
          <a:lstStyle/>
          <a:p>
            <a:r>
              <a:rPr lang="zh-CN" altLang="en-US" sz="2800" b="0" dirty="0">
                <a:latin typeface="+mn-lt"/>
                <a:ea typeface="+mn-ea"/>
              </a:rPr>
              <a:t>但往往能够将训练样本划分开的超平面很多，我们需要找到一个最好的解</a:t>
            </a:r>
          </a:p>
        </p:txBody>
      </p:sp>
      <p:sp>
        <p:nvSpPr>
          <p:cNvPr id="7" name="页脚占位符 3">
            <a:extLst>
              <a:ext uri="{FF2B5EF4-FFF2-40B4-BE49-F238E27FC236}">
                <a16:creationId xmlns:a16="http://schemas.microsoft.com/office/drawing/2014/main" id="{25227356-DD2D-4A5D-A8E4-7C9AB03647BD}"/>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GB" altLang="en-US" b="0" dirty="0">
                <a:solidFill>
                  <a:srgbClr val="FFFFFF"/>
                </a:solidFill>
                <a:latin typeface="Arial"/>
                <a:ea typeface="+mn-ea"/>
              </a:rPr>
              <a:t>© </a:t>
            </a:r>
            <a:r>
              <a:rPr lang="en-GB" altLang="zh-CN" b="0" dirty="0">
                <a:solidFill>
                  <a:srgbClr val="FFFFFF"/>
                </a:solidFill>
                <a:latin typeface="Arial"/>
                <a:ea typeface="+mn-ea"/>
              </a:rPr>
              <a:t>2021</a:t>
            </a:r>
            <a:r>
              <a:rPr lang="en-GB" altLang="en-US" b="0" dirty="0">
                <a:solidFill>
                  <a:srgbClr val="FFFFFF"/>
                </a:solidFill>
                <a:latin typeface="Arial"/>
                <a:ea typeface="+mn-ea"/>
              </a:rPr>
              <a:t> </a:t>
            </a:r>
            <a:r>
              <a:rPr lang="en-GB" altLang="zh-CN" b="0" dirty="0">
                <a:solidFill>
                  <a:srgbClr val="FFFFFF"/>
                </a:solidFill>
                <a:latin typeface="Arial"/>
                <a:ea typeface="+mn-ea"/>
              </a:rPr>
              <a:t>BUPT DSSC             </a:t>
            </a:r>
            <a:r>
              <a:rPr lang="zh-CN" altLang="en-GB" b="0" dirty="0">
                <a:solidFill>
                  <a:srgbClr val="FFFFFF"/>
                </a:solidFill>
                <a:latin typeface="Arial"/>
                <a:ea typeface="+mn-ea"/>
              </a:rPr>
              <a:t>北京邮电大学 </a:t>
            </a:r>
            <a:r>
              <a:rPr lang="zh-CN" altLang="en-US" b="0" dirty="0">
                <a:solidFill>
                  <a:srgbClr val="FFFFFF"/>
                </a:solidFill>
                <a:latin typeface="Arial"/>
                <a:ea typeface="+mn-ea"/>
              </a:rPr>
              <a:t>数据科学与服务</a:t>
            </a:r>
            <a:r>
              <a:rPr lang="zh-CN" altLang="en-GB" b="0" dirty="0">
                <a:solidFill>
                  <a:srgbClr val="FFFFFF"/>
                </a:solidFill>
                <a:latin typeface="Arial"/>
                <a:ea typeface="+mn-ea"/>
              </a:rPr>
              <a:t>中心</a:t>
            </a:r>
            <a:endParaRPr lang="zh-CN" altLang="en-US" b="0" dirty="0">
              <a:solidFill>
                <a:srgbClr val="FFFFFF"/>
              </a:solidFill>
              <a:latin typeface="Arial"/>
              <a:ea typeface="+mn-ea"/>
            </a:endParaRPr>
          </a:p>
        </p:txBody>
      </p:sp>
      <p:pic>
        <p:nvPicPr>
          <p:cNvPr id="8" name="图片 7">
            <a:extLst>
              <a:ext uri="{FF2B5EF4-FFF2-40B4-BE49-F238E27FC236}">
                <a16:creationId xmlns:a16="http://schemas.microsoft.com/office/drawing/2014/main" id="{0D9F105E-BFE4-4467-99E7-521464F57EA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204249" y="3725896"/>
            <a:ext cx="3390900" cy="2562225"/>
          </a:xfrm>
          <a:prstGeom prst="rect">
            <a:avLst/>
          </a:prstGeom>
        </p:spPr>
      </p:pic>
    </p:spTree>
    <p:extLst>
      <p:ext uri="{BB962C8B-B14F-4D97-AF65-F5344CB8AC3E}">
        <p14:creationId xmlns:p14="http://schemas.microsoft.com/office/powerpoint/2010/main" val="3537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44F7ED-2C3A-426D-B883-6A7B7B31A613}"/>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3" name="内容占位符 2">
            <a:extLst>
              <a:ext uri="{FF2B5EF4-FFF2-40B4-BE49-F238E27FC236}">
                <a16:creationId xmlns:a16="http://schemas.microsoft.com/office/drawing/2014/main" id="{47A3002C-5061-47BA-AF50-1E43DA7A14B6}"/>
              </a:ext>
            </a:extLst>
          </p:cNvPr>
          <p:cNvSpPr>
            <a:spLocks noGrp="1"/>
          </p:cNvSpPr>
          <p:nvPr>
            <p:ph idx="1"/>
          </p:nvPr>
        </p:nvSpPr>
        <p:spPr>
          <a:xfrm>
            <a:off x="395536" y="1556792"/>
            <a:ext cx="4989139" cy="4853087"/>
          </a:xfrm>
        </p:spPr>
        <p:txBody>
          <a:bodyPr/>
          <a:lstStyle/>
          <a:p>
            <a:r>
              <a:rPr lang="zh-CN" altLang="en-US" sz="2600" dirty="0">
                <a:latin typeface="宋体" panose="02010600030101010101" pitchFamily="2" charset="-122"/>
                <a:ea typeface="宋体" panose="02010600030101010101" pitchFamily="2" charset="-122"/>
              </a:rPr>
              <a:t>直观上来看，我们会选择线</a:t>
            </a:r>
            <a:r>
              <a:rPr lang="en-US" altLang="zh-CN" sz="2600" dirty="0">
                <a:latin typeface="宋体" panose="02010600030101010101" pitchFamily="2" charset="-122"/>
                <a:ea typeface="宋体" panose="02010600030101010101" pitchFamily="2" charset="-122"/>
              </a:rPr>
              <a:t>H3</a:t>
            </a:r>
            <a:r>
              <a:rPr lang="zh-CN" altLang="en-US" sz="2600" dirty="0">
                <a:latin typeface="宋体" panose="02010600030101010101" pitchFamily="2" charset="-122"/>
                <a:ea typeface="宋体" panose="02010600030101010101" pitchFamily="2" charset="-122"/>
              </a:rPr>
              <a:t>来划分训练样本而不是线</a:t>
            </a:r>
            <a:r>
              <a:rPr lang="en-US" altLang="zh-CN" sz="2600" dirty="0">
                <a:latin typeface="宋体" panose="02010600030101010101" pitchFamily="2" charset="-122"/>
                <a:ea typeface="宋体" panose="02010600030101010101" pitchFamily="2" charset="-122"/>
              </a:rPr>
              <a:t>H1</a:t>
            </a:r>
            <a:r>
              <a:rPr lang="zh-CN" altLang="en-US" sz="2600" dirty="0">
                <a:latin typeface="宋体" panose="02010600030101010101" pitchFamily="2" charset="-122"/>
                <a:ea typeface="宋体" panose="02010600030101010101" pitchFamily="2" charset="-122"/>
              </a:rPr>
              <a:t>和</a:t>
            </a:r>
            <a:r>
              <a:rPr lang="en-US" altLang="zh-CN" sz="2600" dirty="0">
                <a:latin typeface="宋体" panose="02010600030101010101" pitchFamily="2" charset="-122"/>
                <a:ea typeface="宋体" panose="02010600030101010101" pitchFamily="2" charset="-122"/>
              </a:rPr>
              <a:t>H2</a:t>
            </a:r>
            <a:r>
              <a:rPr lang="zh-CN" altLang="en-US" sz="2600" dirty="0">
                <a:latin typeface="宋体" panose="02010600030101010101" pitchFamily="2" charset="-122"/>
                <a:ea typeface="宋体" panose="02010600030101010101" pitchFamily="2" charset="-122"/>
              </a:rPr>
              <a:t>，因为我们可以发现线</a:t>
            </a:r>
            <a:r>
              <a:rPr lang="en-US" altLang="zh-CN" sz="2600" dirty="0">
                <a:latin typeface="宋体" panose="02010600030101010101" pitchFamily="2" charset="-122"/>
                <a:ea typeface="宋体" panose="02010600030101010101" pitchFamily="2" charset="-122"/>
              </a:rPr>
              <a:t>H3</a:t>
            </a:r>
            <a:r>
              <a:rPr lang="zh-CN" altLang="en-US" sz="2600" dirty="0">
                <a:latin typeface="宋体" panose="02010600030101010101" pitchFamily="2" charset="-122"/>
                <a:ea typeface="宋体" panose="02010600030101010101" pitchFamily="2" charset="-122"/>
              </a:rPr>
              <a:t>会对于两种类别的样本边缘局部扰动的容忍性更好，在训练集有噪声的情况下，采用线</a:t>
            </a:r>
            <a:r>
              <a:rPr lang="en-US" altLang="zh-CN" sz="2600" dirty="0">
                <a:latin typeface="宋体" panose="02010600030101010101" pitchFamily="2" charset="-122"/>
                <a:ea typeface="宋体" panose="02010600030101010101" pitchFamily="2" charset="-122"/>
              </a:rPr>
              <a:t>H2</a:t>
            </a:r>
            <a:r>
              <a:rPr lang="zh-CN" altLang="en-US" sz="2600" dirty="0">
                <a:latin typeface="宋体" panose="02010600030101010101" pitchFamily="2" charset="-122"/>
                <a:ea typeface="宋体" panose="02010600030101010101" pitchFamily="2" charset="-122"/>
              </a:rPr>
              <a:t>的划分标准可能会有比较大的误差，而线</a:t>
            </a:r>
            <a:r>
              <a:rPr lang="en-US" altLang="zh-CN" sz="2600" dirty="0">
                <a:latin typeface="宋体" panose="02010600030101010101" pitchFamily="2" charset="-122"/>
                <a:ea typeface="宋体" panose="02010600030101010101" pitchFamily="2" charset="-122"/>
              </a:rPr>
              <a:t>H3</a:t>
            </a:r>
            <a:r>
              <a:rPr lang="zh-CN" altLang="en-US" sz="2600" dirty="0">
                <a:latin typeface="宋体" panose="02010600030101010101" pitchFamily="2" charset="-122"/>
                <a:ea typeface="宋体" panose="02010600030101010101" pitchFamily="2" charset="-122"/>
              </a:rPr>
              <a:t>的分界面受到的影响会比较小，也即它的泛化能力更强，在样本空间中，划分超平面可通过如下线性方程来描述：</a:t>
            </a:r>
            <a:endParaRPr lang="en-US" altLang="zh-CN" sz="2600" dirty="0">
              <a:latin typeface="宋体" panose="02010600030101010101" pitchFamily="2" charset="-122"/>
              <a:ea typeface="宋体" panose="02010600030101010101" pitchFamily="2" charset="-122"/>
            </a:endParaRPr>
          </a:p>
          <a:p>
            <a:pPr marL="0" indent="0">
              <a:buNone/>
            </a:pPr>
            <a:r>
              <a:rPr lang="en-US" altLang="zh-CN" sz="2600" dirty="0">
                <a:latin typeface="宋体" panose="02010600030101010101" pitchFamily="2" charset="-122"/>
                <a:ea typeface="宋体" panose="02010600030101010101" pitchFamily="2" charset="-122"/>
              </a:rPr>
              <a:t>   </a:t>
            </a:r>
            <a:endParaRPr lang="zh-CN" altLang="en-US" sz="2600" dirty="0">
              <a:latin typeface="宋体" panose="02010600030101010101" pitchFamily="2" charset="-122"/>
              <a:ea typeface="宋体" panose="02010600030101010101" pitchFamily="2" charset="-122"/>
            </a:endParaRPr>
          </a:p>
        </p:txBody>
      </p:sp>
      <p:sp>
        <p:nvSpPr>
          <p:cNvPr id="5" name="页脚占位符 3">
            <a:extLst>
              <a:ext uri="{FF2B5EF4-FFF2-40B4-BE49-F238E27FC236}">
                <a16:creationId xmlns:a16="http://schemas.microsoft.com/office/drawing/2014/main" id="{7181B3A7-3F4A-4B8D-AD22-C4C43FE04CD2}"/>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6" name="图片 5">
            <a:extLst>
              <a:ext uri="{FF2B5EF4-FFF2-40B4-BE49-F238E27FC236}">
                <a16:creationId xmlns:a16="http://schemas.microsoft.com/office/drawing/2014/main" id="{98A3327A-0862-4ADA-A7E5-06DA19A2F8B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5384675" y="2060848"/>
            <a:ext cx="3390900" cy="2562225"/>
          </a:xfrm>
          <a:prstGeom prst="rect">
            <a:avLst/>
          </a:prstGeom>
        </p:spPr>
      </p:pic>
      <p:pic>
        <p:nvPicPr>
          <p:cNvPr id="7" name="图片 6">
            <a:extLst>
              <a:ext uri="{FF2B5EF4-FFF2-40B4-BE49-F238E27FC236}">
                <a16:creationId xmlns:a16="http://schemas.microsoft.com/office/drawing/2014/main" id="{71430504-34D0-43A4-97F5-660786054EBC}"/>
              </a:ext>
            </a:extLst>
          </p:cNvPr>
          <p:cNvPicPr>
            <a:picLocks noChangeAspect="1"/>
          </p:cNvPicPr>
          <p:nvPr/>
        </p:nvPicPr>
        <p:blipFill>
          <a:blip r:embed="rId4"/>
          <a:stretch>
            <a:fillRect/>
          </a:stretch>
        </p:blipFill>
        <p:spPr>
          <a:xfrm>
            <a:off x="5848344" y="4918175"/>
            <a:ext cx="2352675" cy="809625"/>
          </a:xfrm>
          <a:prstGeom prst="rect">
            <a:avLst/>
          </a:prstGeom>
        </p:spPr>
      </p:pic>
    </p:spTree>
    <p:extLst>
      <p:ext uri="{BB962C8B-B14F-4D97-AF65-F5344CB8AC3E}">
        <p14:creationId xmlns:p14="http://schemas.microsoft.com/office/powerpoint/2010/main" val="2909298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B46D8A-5384-414A-9004-CBDEE4C7A23E}"/>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3" name="内容占位符 2">
            <a:extLst>
              <a:ext uri="{FF2B5EF4-FFF2-40B4-BE49-F238E27FC236}">
                <a16:creationId xmlns:a16="http://schemas.microsoft.com/office/drawing/2014/main" id="{02C74B41-3BD3-49FE-B833-02361CF44CA9}"/>
              </a:ext>
            </a:extLst>
          </p:cNvPr>
          <p:cNvSpPr>
            <a:spLocks noGrp="1"/>
          </p:cNvSpPr>
          <p:nvPr>
            <p:ph idx="1"/>
          </p:nvPr>
        </p:nvSpPr>
        <p:spPr/>
        <p:txBody>
          <a:bodyPr/>
          <a:lstStyle/>
          <a:p>
            <a:pPr>
              <a:buFont typeface="Wingdings" panose="05000000000000000000" pitchFamily="2" charset="2"/>
              <a:buChar char="l"/>
            </a:pPr>
            <a:r>
              <a:rPr lang="zh-CN" altLang="en-US" dirty="0"/>
              <a:t>如何得到最好的超平面？</a:t>
            </a:r>
            <a:endParaRPr lang="en-US" altLang="zh-CN" dirty="0"/>
          </a:p>
        </p:txBody>
      </p:sp>
      <p:sp>
        <p:nvSpPr>
          <p:cNvPr id="5" name="页脚占位符 3">
            <a:extLst>
              <a:ext uri="{FF2B5EF4-FFF2-40B4-BE49-F238E27FC236}">
                <a16:creationId xmlns:a16="http://schemas.microsoft.com/office/drawing/2014/main" id="{BA2B7E21-D2E6-431D-BE9D-B37078DF7DE1}"/>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4" name="图片 3">
            <a:extLst>
              <a:ext uri="{FF2B5EF4-FFF2-40B4-BE49-F238E27FC236}">
                <a16:creationId xmlns:a16="http://schemas.microsoft.com/office/drawing/2014/main" id="{BDC70AE3-9CB7-4893-BD38-65D1EEFA2F14}"/>
              </a:ext>
            </a:extLst>
          </p:cNvPr>
          <p:cNvPicPr>
            <a:picLocks noChangeAspect="1"/>
          </p:cNvPicPr>
          <p:nvPr/>
        </p:nvPicPr>
        <p:blipFill>
          <a:blip r:embed="rId3"/>
          <a:stretch>
            <a:fillRect/>
          </a:stretch>
        </p:blipFill>
        <p:spPr>
          <a:xfrm>
            <a:off x="576390" y="2636912"/>
            <a:ext cx="4254996" cy="2982083"/>
          </a:xfrm>
          <a:prstGeom prst="rect">
            <a:avLst/>
          </a:prstGeom>
        </p:spPr>
      </p:pic>
      <p:sp>
        <p:nvSpPr>
          <p:cNvPr id="6" name="文本框 5">
            <a:extLst>
              <a:ext uri="{FF2B5EF4-FFF2-40B4-BE49-F238E27FC236}">
                <a16:creationId xmlns:a16="http://schemas.microsoft.com/office/drawing/2014/main" id="{459E4A8A-4FF6-49EE-8DB2-AA5B7150C893}"/>
              </a:ext>
            </a:extLst>
          </p:cNvPr>
          <p:cNvSpPr txBox="1"/>
          <p:nvPr/>
        </p:nvSpPr>
        <p:spPr>
          <a:xfrm>
            <a:off x="4761738" y="2501095"/>
            <a:ext cx="3384376" cy="276999"/>
          </a:xfrm>
          <a:prstGeom prst="rect">
            <a:avLst/>
          </a:prstGeom>
          <a:noFill/>
        </p:spPr>
        <p:txBody>
          <a:bodyPr wrap="square" rtlCol="0">
            <a:spAutoFit/>
          </a:bodyPr>
          <a:lstStyle/>
          <a:p>
            <a:r>
              <a:rPr lang="zh-CN" altLang="en-US" sz="1600" dirty="0"/>
              <a:t>任意点到超平面的距离：</a:t>
            </a:r>
          </a:p>
        </p:txBody>
      </p:sp>
      <p:pic>
        <p:nvPicPr>
          <p:cNvPr id="7" name="图片 6">
            <a:extLst>
              <a:ext uri="{FF2B5EF4-FFF2-40B4-BE49-F238E27FC236}">
                <a16:creationId xmlns:a16="http://schemas.microsoft.com/office/drawing/2014/main" id="{2A451D37-F425-43D6-8948-5EB5D049E736}"/>
              </a:ext>
            </a:extLst>
          </p:cNvPr>
          <p:cNvPicPr>
            <a:picLocks noChangeAspect="1"/>
          </p:cNvPicPr>
          <p:nvPr/>
        </p:nvPicPr>
        <p:blipFill>
          <a:blip r:embed="rId4"/>
          <a:stretch>
            <a:fillRect/>
          </a:stretch>
        </p:blipFill>
        <p:spPr>
          <a:xfrm>
            <a:off x="7236296" y="2238856"/>
            <a:ext cx="1563007" cy="796111"/>
          </a:xfrm>
          <a:prstGeom prst="rect">
            <a:avLst/>
          </a:prstGeom>
        </p:spPr>
      </p:pic>
      <p:sp>
        <p:nvSpPr>
          <p:cNvPr id="8" name="文本框 7">
            <a:extLst>
              <a:ext uri="{FF2B5EF4-FFF2-40B4-BE49-F238E27FC236}">
                <a16:creationId xmlns:a16="http://schemas.microsoft.com/office/drawing/2014/main" id="{D92FA4BA-33C1-4DFA-9A65-73601DDFE4F2}"/>
              </a:ext>
            </a:extLst>
          </p:cNvPr>
          <p:cNvSpPr txBox="1"/>
          <p:nvPr/>
        </p:nvSpPr>
        <p:spPr>
          <a:xfrm>
            <a:off x="4799136" y="3333419"/>
            <a:ext cx="3309580" cy="579646"/>
          </a:xfrm>
          <a:prstGeom prst="rect">
            <a:avLst/>
          </a:prstGeom>
          <a:noFill/>
        </p:spPr>
        <p:txBody>
          <a:bodyPr wrap="square" rtlCol="0">
            <a:spAutoFit/>
          </a:bodyPr>
          <a:lstStyle/>
          <a:p>
            <a:pPr>
              <a:lnSpc>
                <a:spcPts val="1920"/>
              </a:lnSpc>
            </a:pPr>
            <a:r>
              <a:rPr lang="zh-CN" altLang="en-US" sz="1600" dirty="0"/>
              <a:t>找到距离超平面最近的点，称其为“支持向量”，满足以下公式：</a:t>
            </a:r>
          </a:p>
        </p:txBody>
      </p:sp>
      <p:pic>
        <p:nvPicPr>
          <p:cNvPr id="10" name="图片 9">
            <a:extLst>
              <a:ext uri="{FF2B5EF4-FFF2-40B4-BE49-F238E27FC236}">
                <a16:creationId xmlns:a16="http://schemas.microsoft.com/office/drawing/2014/main" id="{884D281D-7897-4B3E-B8C7-1FE4564DE3E0}"/>
              </a:ext>
            </a:extLst>
          </p:cNvPr>
          <p:cNvPicPr>
            <a:picLocks noChangeAspect="1"/>
          </p:cNvPicPr>
          <p:nvPr/>
        </p:nvPicPr>
        <p:blipFill>
          <a:blip r:embed="rId5"/>
          <a:stretch>
            <a:fillRect/>
          </a:stretch>
        </p:blipFill>
        <p:spPr>
          <a:xfrm>
            <a:off x="5076056" y="3996486"/>
            <a:ext cx="3219190" cy="943808"/>
          </a:xfrm>
          <a:prstGeom prst="rect">
            <a:avLst/>
          </a:prstGeom>
        </p:spPr>
      </p:pic>
      <p:pic>
        <p:nvPicPr>
          <p:cNvPr id="11" name="图片 10">
            <a:extLst>
              <a:ext uri="{FF2B5EF4-FFF2-40B4-BE49-F238E27FC236}">
                <a16:creationId xmlns:a16="http://schemas.microsoft.com/office/drawing/2014/main" id="{8C77575D-07AD-479A-AFEE-7FEAADCEEC4B}"/>
              </a:ext>
            </a:extLst>
          </p:cNvPr>
          <p:cNvPicPr>
            <a:picLocks noChangeAspect="1"/>
          </p:cNvPicPr>
          <p:nvPr/>
        </p:nvPicPr>
        <p:blipFill>
          <a:blip r:embed="rId6"/>
          <a:stretch>
            <a:fillRect/>
          </a:stretch>
        </p:blipFill>
        <p:spPr>
          <a:xfrm>
            <a:off x="5940151" y="5402273"/>
            <a:ext cx="1406199" cy="863590"/>
          </a:xfrm>
          <a:prstGeom prst="rect">
            <a:avLst/>
          </a:prstGeom>
        </p:spPr>
      </p:pic>
      <p:sp>
        <p:nvSpPr>
          <p:cNvPr id="12" name="文本框 11">
            <a:extLst>
              <a:ext uri="{FF2B5EF4-FFF2-40B4-BE49-F238E27FC236}">
                <a16:creationId xmlns:a16="http://schemas.microsoft.com/office/drawing/2014/main" id="{ADE9AE58-06F7-4ED0-B9D7-6561A318243E}"/>
              </a:ext>
            </a:extLst>
          </p:cNvPr>
          <p:cNvSpPr txBox="1"/>
          <p:nvPr/>
        </p:nvSpPr>
        <p:spPr>
          <a:xfrm>
            <a:off x="4970096" y="5043617"/>
            <a:ext cx="3309580" cy="335989"/>
          </a:xfrm>
          <a:prstGeom prst="rect">
            <a:avLst/>
          </a:prstGeom>
          <a:noFill/>
        </p:spPr>
        <p:txBody>
          <a:bodyPr wrap="square" rtlCol="0">
            <a:spAutoFit/>
          </a:bodyPr>
          <a:lstStyle/>
          <a:p>
            <a:pPr>
              <a:lnSpc>
                <a:spcPts val="1920"/>
              </a:lnSpc>
            </a:pPr>
            <a:r>
              <a:rPr lang="zh-CN" altLang="en-US" sz="1600" dirty="0"/>
              <a:t>两类支持向量距离之和：间隔</a:t>
            </a:r>
          </a:p>
        </p:txBody>
      </p:sp>
    </p:spTree>
    <p:extLst>
      <p:ext uri="{BB962C8B-B14F-4D97-AF65-F5344CB8AC3E}">
        <p14:creationId xmlns:p14="http://schemas.microsoft.com/office/powerpoint/2010/main" val="365397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662CC-725F-444D-8DFC-9246BF6B1375}"/>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3" name="文本框 2">
            <a:extLst>
              <a:ext uri="{FF2B5EF4-FFF2-40B4-BE49-F238E27FC236}">
                <a16:creationId xmlns:a16="http://schemas.microsoft.com/office/drawing/2014/main" id="{6A962337-404C-46AC-9B21-FB43B663348B}"/>
              </a:ext>
            </a:extLst>
          </p:cNvPr>
          <p:cNvSpPr txBox="1"/>
          <p:nvPr/>
        </p:nvSpPr>
        <p:spPr>
          <a:xfrm>
            <a:off x="107453" y="1220478"/>
            <a:ext cx="8640960" cy="424732"/>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如何得到最好的超平面？</a:t>
            </a:r>
          </a:p>
        </p:txBody>
      </p:sp>
      <p:sp>
        <p:nvSpPr>
          <p:cNvPr id="7" name="页脚占位符 3">
            <a:extLst>
              <a:ext uri="{FF2B5EF4-FFF2-40B4-BE49-F238E27FC236}">
                <a16:creationId xmlns:a16="http://schemas.microsoft.com/office/drawing/2014/main" id="{D6D1C43F-4D4A-4409-BBE2-AECDC4CE38E2}"/>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4" name="图片 3">
            <a:extLst>
              <a:ext uri="{FF2B5EF4-FFF2-40B4-BE49-F238E27FC236}">
                <a16:creationId xmlns:a16="http://schemas.microsoft.com/office/drawing/2014/main" id="{2503430B-80EA-48AA-9A3D-CF493655E349}"/>
              </a:ext>
            </a:extLst>
          </p:cNvPr>
          <p:cNvPicPr>
            <a:picLocks noChangeAspect="1"/>
          </p:cNvPicPr>
          <p:nvPr/>
        </p:nvPicPr>
        <p:blipFill>
          <a:blip r:embed="rId3"/>
          <a:stretch>
            <a:fillRect/>
          </a:stretch>
        </p:blipFill>
        <p:spPr>
          <a:xfrm>
            <a:off x="1228416" y="1832316"/>
            <a:ext cx="5943221" cy="1904032"/>
          </a:xfrm>
          <a:prstGeom prst="rect">
            <a:avLst/>
          </a:prstGeom>
        </p:spPr>
      </p:pic>
      <p:sp>
        <p:nvSpPr>
          <p:cNvPr id="5" name="文本框 4">
            <a:extLst>
              <a:ext uri="{FF2B5EF4-FFF2-40B4-BE49-F238E27FC236}">
                <a16:creationId xmlns:a16="http://schemas.microsoft.com/office/drawing/2014/main" id="{DE038CE1-2F9E-4E7D-B479-C5AB0A7B7513}"/>
              </a:ext>
            </a:extLst>
          </p:cNvPr>
          <p:cNvSpPr txBox="1"/>
          <p:nvPr/>
        </p:nvSpPr>
        <p:spPr>
          <a:xfrm>
            <a:off x="1228416" y="4072099"/>
            <a:ext cx="7265850" cy="300082"/>
          </a:xfrm>
          <a:prstGeom prst="rect">
            <a:avLst/>
          </a:prstGeom>
          <a:noFill/>
        </p:spPr>
        <p:txBody>
          <a:bodyPr wrap="square" rtlCol="0">
            <a:spAutoFit/>
          </a:bodyPr>
          <a:lstStyle/>
          <a:p>
            <a:r>
              <a:rPr lang="zh-CN" altLang="en-US" sz="1800" dirty="0"/>
              <a:t>等价于：采用拉格朗日乘子法得到对偶问题进行求解</a:t>
            </a:r>
          </a:p>
        </p:txBody>
      </p:sp>
      <p:pic>
        <p:nvPicPr>
          <p:cNvPr id="6" name="图片 5">
            <a:extLst>
              <a:ext uri="{FF2B5EF4-FFF2-40B4-BE49-F238E27FC236}">
                <a16:creationId xmlns:a16="http://schemas.microsoft.com/office/drawing/2014/main" id="{3BF2DFBF-E2B6-494A-830E-6FE843FE0CAB}"/>
              </a:ext>
            </a:extLst>
          </p:cNvPr>
          <p:cNvPicPr>
            <a:picLocks noChangeAspect="1"/>
          </p:cNvPicPr>
          <p:nvPr/>
        </p:nvPicPr>
        <p:blipFill>
          <a:blip r:embed="rId4"/>
          <a:stretch>
            <a:fillRect/>
          </a:stretch>
        </p:blipFill>
        <p:spPr>
          <a:xfrm>
            <a:off x="1254642" y="4679980"/>
            <a:ext cx="4924425" cy="1552575"/>
          </a:xfrm>
          <a:prstGeom prst="rect">
            <a:avLst/>
          </a:prstGeom>
        </p:spPr>
      </p:pic>
    </p:spTree>
    <p:extLst>
      <p:ext uri="{BB962C8B-B14F-4D97-AF65-F5344CB8AC3E}">
        <p14:creationId xmlns:p14="http://schemas.microsoft.com/office/powerpoint/2010/main" val="4031335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662CC-725F-444D-8DFC-9246BF6B1375}"/>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3" name="文本框 2">
            <a:extLst>
              <a:ext uri="{FF2B5EF4-FFF2-40B4-BE49-F238E27FC236}">
                <a16:creationId xmlns:a16="http://schemas.microsoft.com/office/drawing/2014/main" id="{6A962337-404C-46AC-9B21-FB43B663348B}"/>
              </a:ext>
            </a:extLst>
          </p:cNvPr>
          <p:cNvSpPr txBox="1"/>
          <p:nvPr/>
        </p:nvSpPr>
        <p:spPr>
          <a:xfrm>
            <a:off x="107453" y="1220478"/>
            <a:ext cx="8640960" cy="424732"/>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软间隔：允许有小部分的分类误差（添加惩罚项）</a:t>
            </a:r>
          </a:p>
        </p:txBody>
      </p:sp>
      <p:sp>
        <p:nvSpPr>
          <p:cNvPr id="7" name="页脚占位符 3">
            <a:extLst>
              <a:ext uri="{FF2B5EF4-FFF2-40B4-BE49-F238E27FC236}">
                <a16:creationId xmlns:a16="http://schemas.microsoft.com/office/drawing/2014/main" id="{D6D1C43F-4D4A-4409-BBE2-AECDC4CE38E2}"/>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6" name="图片 5">
            <a:extLst>
              <a:ext uri="{FF2B5EF4-FFF2-40B4-BE49-F238E27FC236}">
                <a16:creationId xmlns:a16="http://schemas.microsoft.com/office/drawing/2014/main" id="{89509A88-E8A0-46E9-A5B4-F1F5CFC8E1CC}"/>
              </a:ext>
            </a:extLst>
          </p:cNvPr>
          <p:cNvPicPr>
            <a:picLocks noChangeAspect="1"/>
          </p:cNvPicPr>
          <p:nvPr/>
        </p:nvPicPr>
        <p:blipFill>
          <a:blip r:embed="rId3"/>
          <a:stretch>
            <a:fillRect/>
          </a:stretch>
        </p:blipFill>
        <p:spPr>
          <a:xfrm>
            <a:off x="683568" y="2348880"/>
            <a:ext cx="4446326" cy="3124445"/>
          </a:xfrm>
          <a:prstGeom prst="rect">
            <a:avLst/>
          </a:prstGeom>
        </p:spPr>
      </p:pic>
      <p:sp>
        <p:nvSpPr>
          <p:cNvPr id="10" name="文本框 9">
            <a:extLst>
              <a:ext uri="{FF2B5EF4-FFF2-40B4-BE49-F238E27FC236}">
                <a16:creationId xmlns:a16="http://schemas.microsoft.com/office/drawing/2014/main" id="{BC02A8B2-94E9-4194-AA18-0203EC30550A}"/>
              </a:ext>
            </a:extLst>
          </p:cNvPr>
          <p:cNvSpPr txBox="1"/>
          <p:nvPr/>
        </p:nvSpPr>
        <p:spPr>
          <a:xfrm>
            <a:off x="4745361" y="2867739"/>
            <a:ext cx="4261789" cy="2086725"/>
          </a:xfrm>
          <a:prstGeom prst="rect">
            <a:avLst/>
          </a:prstGeom>
          <a:noFill/>
        </p:spPr>
        <p:txBody>
          <a:bodyPr wrap="square" rtlCol="0">
            <a:spAutoFit/>
          </a:bodyPr>
          <a:lstStyle/>
          <a:p>
            <a:pPr marL="477838" lvl="1">
              <a:lnSpc>
                <a:spcPct val="90000"/>
              </a:lnSpc>
              <a:spcBef>
                <a:spcPct val="50000"/>
              </a:spcBef>
              <a:buClr>
                <a:schemeClr val="bg2">
                  <a:lumMod val="20000"/>
                  <a:lumOff val="80000"/>
                </a:schemeClr>
              </a:buClr>
            </a:pPr>
            <a:r>
              <a:rPr lang="zh-CN" altLang="en-US" sz="2400" b="0" dirty="0">
                <a:latin typeface="Times New Roman" panose="02020603050405020304" pitchFamily="18" charset="0"/>
                <a:cs typeface="Times New Roman" panose="02020603050405020304" pitchFamily="18" charset="0"/>
              </a:rPr>
              <a:t>我们采取软间隔的方法来允许算法在一些样本上出错，同时在我们的目标函数中加入惩罚项，以此来让算法能够得到更好的应用。</a:t>
            </a:r>
          </a:p>
        </p:txBody>
      </p:sp>
    </p:spTree>
    <p:extLst>
      <p:ext uri="{BB962C8B-B14F-4D97-AF65-F5344CB8AC3E}">
        <p14:creationId xmlns:p14="http://schemas.microsoft.com/office/powerpoint/2010/main" val="1907739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662CC-725F-444D-8DFC-9246BF6B1375}"/>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3" name="文本框 2">
            <a:extLst>
              <a:ext uri="{FF2B5EF4-FFF2-40B4-BE49-F238E27FC236}">
                <a16:creationId xmlns:a16="http://schemas.microsoft.com/office/drawing/2014/main" id="{6A962337-404C-46AC-9B21-FB43B663348B}"/>
              </a:ext>
            </a:extLst>
          </p:cNvPr>
          <p:cNvSpPr txBox="1"/>
          <p:nvPr/>
        </p:nvSpPr>
        <p:spPr>
          <a:xfrm>
            <a:off x="107453" y="1220478"/>
            <a:ext cx="8640960" cy="1274195"/>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线性不可分情况：使用核函数进行升维操作</a:t>
            </a:r>
            <a:endParaRPr lang="en-US" altLang="zh-CN" sz="2400" b="0" dirty="0">
              <a:latin typeface="Times New Roman" panose="02020603050405020304" pitchFamily="18" charset="0"/>
              <a:cs typeface="Times New Roman" panose="02020603050405020304" pitchFamily="18" charset="0"/>
            </a:endParaRPr>
          </a:p>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巧妙的在更高维度的空间中找到划分平面，同时利用核函数性质使得我们不用提高我们的计算复杂度</a:t>
            </a:r>
          </a:p>
        </p:txBody>
      </p:sp>
      <p:sp>
        <p:nvSpPr>
          <p:cNvPr id="7" name="页脚占位符 3">
            <a:extLst>
              <a:ext uri="{FF2B5EF4-FFF2-40B4-BE49-F238E27FC236}">
                <a16:creationId xmlns:a16="http://schemas.microsoft.com/office/drawing/2014/main" id="{D6D1C43F-4D4A-4409-BBE2-AECDC4CE38E2}"/>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4" name="图片 3">
            <a:extLst>
              <a:ext uri="{FF2B5EF4-FFF2-40B4-BE49-F238E27FC236}">
                <a16:creationId xmlns:a16="http://schemas.microsoft.com/office/drawing/2014/main" id="{3CA66C46-7110-4A45-AA58-93F21F81FF98}"/>
              </a:ext>
            </a:extLst>
          </p:cNvPr>
          <p:cNvPicPr>
            <a:picLocks noChangeAspect="1"/>
          </p:cNvPicPr>
          <p:nvPr/>
        </p:nvPicPr>
        <p:blipFill>
          <a:blip r:embed="rId3"/>
          <a:stretch>
            <a:fillRect/>
          </a:stretch>
        </p:blipFill>
        <p:spPr>
          <a:xfrm>
            <a:off x="2307456" y="2988533"/>
            <a:ext cx="4240954" cy="3113906"/>
          </a:xfrm>
          <a:prstGeom prst="rect">
            <a:avLst/>
          </a:prstGeom>
        </p:spPr>
      </p:pic>
    </p:spTree>
    <p:extLst>
      <p:ext uri="{BB962C8B-B14F-4D97-AF65-F5344CB8AC3E}">
        <p14:creationId xmlns:p14="http://schemas.microsoft.com/office/powerpoint/2010/main" val="2205729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8" name="文本框 7"/>
          <p:cNvSpPr txBox="1"/>
          <p:nvPr/>
        </p:nvSpPr>
        <p:spPr>
          <a:xfrm>
            <a:off x="107454" y="1324644"/>
            <a:ext cx="8640960" cy="2308324"/>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实验六 拓展实验</a:t>
            </a:r>
            <a:endParaRPr lang="en-US" altLang="zh-CN" sz="2400" b="0" dirty="0">
              <a:latin typeface="Times New Roman" panose="02020603050405020304" pitchFamily="18" charset="0"/>
              <a:cs typeface="Times New Roman" panose="02020603050405020304" pitchFamily="18" charset="0"/>
            </a:endParaRPr>
          </a:p>
          <a:p>
            <a:pPr marL="1277938" lvl="2" indent="-342900">
              <a:lnSpc>
                <a:spcPct val="90000"/>
              </a:lnSpc>
              <a:spcBef>
                <a:spcPct val="50000"/>
              </a:spcBef>
              <a:buClr>
                <a:schemeClr val="bg2">
                  <a:lumMod val="20000"/>
                  <a:lumOff val="80000"/>
                </a:schemeClr>
              </a:buClr>
              <a:buFont typeface="Arial" panose="020B0604020202020204" pitchFamily="34" charset="0"/>
              <a:buChar char="•"/>
            </a:pPr>
            <a:r>
              <a:rPr lang="en-US" altLang="zh-CN" sz="2400" b="0" dirty="0">
                <a:latin typeface="Times New Roman" panose="02020603050405020304" pitchFamily="18" charset="0"/>
                <a:cs typeface="Times New Roman" panose="02020603050405020304" pitchFamily="18" charset="0"/>
              </a:rPr>
              <a:t>demo</a:t>
            </a:r>
            <a:r>
              <a:rPr lang="zh-CN" altLang="en-US" sz="2400" b="0" dirty="0">
                <a:latin typeface="Times New Roman" panose="02020603050405020304" pitchFamily="18" charset="0"/>
                <a:cs typeface="Times New Roman" panose="02020603050405020304" pitchFamily="18" charset="0"/>
              </a:rPr>
              <a:t>工作流名称：</a:t>
            </a:r>
            <a:r>
              <a:rPr lang="en-US" altLang="zh-CN" sz="2400" b="0" dirty="0">
                <a:solidFill>
                  <a:srgbClr val="FF0000"/>
                </a:solidFill>
                <a:latin typeface="Times New Roman" panose="02020603050405020304" pitchFamily="18" charset="0"/>
                <a:cs typeface="Times New Roman" panose="02020603050405020304" pitchFamily="18" charset="0"/>
              </a:rPr>
              <a:t>demo_exp6</a:t>
            </a:r>
          </a:p>
          <a:p>
            <a:pPr marL="1277938" lvl="2" indent="-342900">
              <a:lnSpc>
                <a:spcPct val="90000"/>
              </a:lnSpc>
              <a:spcBef>
                <a:spcPct val="50000"/>
              </a:spcBef>
              <a:buClr>
                <a:schemeClr val="bg2">
                  <a:lumMod val="20000"/>
                  <a:lumOff val="80000"/>
                </a:schemeClr>
              </a:buClr>
              <a:buFont typeface="Arial" panose="020B0604020202020204" pitchFamily="34" charset="0"/>
              <a:buChar char="•"/>
            </a:pPr>
            <a:r>
              <a:rPr lang="zh-CN" altLang="en-US" sz="2400" b="0" dirty="0">
                <a:latin typeface="Times New Roman" panose="02020603050405020304" pitchFamily="18" charset="0"/>
                <a:cs typeface="Times New Roman" panose="02020603050405020304" pitchFamily="18" charset="0"/>
              </a:rPr>
              <a:t>实验数据简介：</a:t>
            </a:r>
            <a:r>
              <a:rPr lang="en-US" altLang="zh-CN" sz="2400" b="0" dirty="0">
                <a:latin typeface="Times New Roman" panose="02020603050405020304" pitchFamily="18" charset="0"/>
                <a:cs typeface="Times New Roman" panose="02020603050405020304" pitchFamily="18" charset="0"/>
              </a:rPr>
              <a:t>iris</a:t>
            </a:r>
            <a:r>
              <a:rPr lang="zh-CN" altLang="en-US" sz="2400" b="0" dirty="0">
                <a:latin typeface="Times New Roman" panose="02020603050405020304" pitchFamily="18" charset="0"/>
                <a:cs typeface="Times New Roman" panose="02020603050405020304" pitchFamily="18" charset="0"/>
              </a:rPr>
              <a:t>数据集</a:t>
            </a:r>
            <a:endParaRPr lang="en-US" altLang="zh-CN" sz="2400" b="0" dirty="0">
              <a:latin typeface="Times New Roman" panose="02020603050405020304" pitchFamily="18" charset="0"/>
              <a:cs typeface="Times New Roman" panose="02020603050405020304" pitchFamily="18" charset="0"/>
            </a:endParaRPr>
          </a:p>
          <a:p>
            <a:pPr marL="1277938" lvl="2" indent="-342900">
              <a:lnSpc>
                <a:spcPct val="90000"/>
              </a:lnSpc>
              <a:spcBef>
                <a:spcPct val="50000"/>
              </a:spcBef>
              <a:buClr>
                <a:schemeClr val="bg2">
                  <a:lumMod val="20000"/>
                  <a:lumOff val="80000"/>
                </a:schemeClr>
              </a:buClr>
              <a:buFont typeface="Arial" panose="020B0604020202020204" pitchFamily="34" charset="0"/>
              <a:buChar char="•"/>
            </a:pPr>
            <a:r>
              <a:rPr lang="zh-CN" altLang="en-US" sz="2400" b="0" dirty="0">
                <a:latin typeface="Times New Roman" panose="02020603050405020304" pitchFamily="18" charset="0"/>
                <a:cs typeface="Times New Roman" panose="02020603050405020304" pitchFamily="18" charset="0"/>
              </a:rPr>
              <a:t>实验操作：下载数据集，转换数据集格式，数据集划分，模型训练，模型预测</a:t>
            </a:r>
          </a:p>
        </p:txBody>
      </p:sp>
      <p:sp>
        <p:nvSpPr>
          <p:cNvPr id="6" name="页脚占位符 3">
            <a:extLst>
              <a:ext uri="{FF2B5EF4-FFF2-40B4-BE49-F238E27FC236}">
                <a16:creationId xmlns:a16="http://schemas.microsoft.com/office/drawing/2014/main" id="{1DF55E3B-AE41-4E27-B76F-1ABEE1F707B3}"/>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spTree>
    <p:extLst>
      <p:ext uri="{BB962C8B-B14F-4D97-AF65-F5344CB8AC3E}">
        <p14:creationId xmlns:p14="http://schemas.microsoft.com/office/powerpoint/2010/main" val="2862805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5AF8E3-2D01-4AA4-9356-041CFFEC7CE6}"/>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8" name="文本框 7">
            <a:extLst>
              <a:ext uri="{FF2B5EF4-FFF2-40B4-BE49-F238E27FC236}">
                <a16:creationId xmlns:a16="http://schemas.microsoft.com/office/drawing/2014/main" id="{D2B91DD9-EC1C-4692-903C-2395976F1B7F}"/>
              </a:ext>
            </a:extLst>
          </p:cNvPr>
          <p:cNvSpPr txBox="1"/>
          <p:nvPr/>
        </p:nvSpPr>
        <p:spPr>
          <a:xfrm>
            <a:off x="107453" y="1220478"/>
            <a:ext cx="8640960" cy="424732"/>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数据信息</a:t>
            </a:r>
          </a:p>
        </p:txBody>
      </p:sp>
      <p:sp>
        <p:nvSpPr>
          <p:cNvPr id="6" name="页脚占位符 3">
            <a:extLst>
              <a:ext uri="{FF2B5EF4-FFF2-40B4-BE49-F238E27FC236}">
                <a16:creationId xmlns:a16="http://schemas.microsoft.com/office/drawing/2014/main" id="{48BCFFA8-6D56-4C14-B97A-CE51582DEB27}"/>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sp>
        <p:nvSpPr>
          <p:cNvPr id="3" name="文本框 2">
            <a:extLst>
              <a:ext uri="{FF2B5EF4-FFF2-40B4-BE49-F238E27FC236}">
                <a16:creationId xmlns:a16="http://schemas.microsoft.com/office/drawing/2014/main" id="{FF48E919-F714-4431-81FC-19235C1C2790}"/>
              </a:ext>
            </a:extLst>
          </p:cNvPr>
          <p:cNvSpPr txBox="1"/>
          <p:nvPr/>
        </p:nvSpPr>
        <p:spPr>
          <a:xfrm>
            <a:off x="683517" y="1964380"/>
            <a:ext cx="8064896" cy="369332"/>
          </a:xfrm>
          <a:prstGeom prst="rect">
            <a:avLst/>
          </a:prstGeom>
          <a:noFill/>
        </p:spPr>
        <p:txBody>
          <a:bodyPr wrap="square" rtlCol="0">
            <a:spAutoFit/>
          </a:bodyPr>
          <a:lstStyle/>
          <a:p>
            <a:r>
              <a:rPr lang="zh-CN" altLang="en-US" sz="2400" dirty="0"/>
              <a:t>数据下载网址：</a:t>
            </a:r>
            <a:r>
              <a:rPr lang="en-US" altLang="zh-CN" sz="2400" dirty="0"/>
              <a:t>http://archive.ics.uci.edu/ml/index.php</a:t>
            </a:r>
            <a:endParaRPr lang="zh-CN" altLang="en-US" sz="2400" dirty="0"/>
          </a:p>
        </p:txBody>
      </p:sp>
      <p:pic>
        <p:nvPicPr>
          <p:cNvPr id="4" name="图片 3">
            <a:extLst>
              <a:ext uri="{FF2B5EF4-FFF2-40B4-BE49-F238E27FC236}">
                <a16:creationId xmlns:a16="http://schemas.microsoft.com/office/drawing/2014/main" id="{A0CB4BDA-765E-4BD1-99E1-66E213EF5798}"/>
              </a:ext>
            </a:extLst>
          </p:cNvPr>
          <p:cNvPicPr>
            <a:picLocks noChangeAspect="1"/>
          </p:cNvPicPr>
          <p:nvPr/>
        </p:nvPicPr>
        <p:blipFill>
          <a:blip r:embed="rId3"/>
          <a:stretch>
            <a:fillRect/>
          </a:stretch>
        </p:blipFill>
        <p:spPr>
          <a:xfrm>
            <a:off x="845840" y="2492896"/>
            <a:ext cx="7452320" cy="3580422"/>
          </a:xfrm>
          <a:prstGeom prst="rect">
            <a:avLst/>
          </a:prstGeom>
        </p:spPr>
      </p:pic>
    </p:spTree>
    <p:extLst>
      <p:ext uri="{BB962C8B-B14F-4D97-AF65-F5344CB8AC3E}">
        <p14:creationId xmlns:p14="http://schemas.microsoft.com/office/powerpoint/2010/main" val="3353453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8" name="文本框 7"/>
          <p:cNvSpPr txBox="1"/>
          <p:nvPr/>
        </p:nvSpPr>
        <p:spPr>
          <a:xfrm>
            <a:off x="107453" y="1220478"/>
            <a:ext cx="8640960" cy="424732"/>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数据下载完成之后上传至</a:t>
            </a:r>
            <a:r>
              <a:rPr lang="en-US" altLang="zh-CN" sz="2400" b="0" dirty="0">
                <a:latin typeface="Times New Roman" panose="02020603050405020304" pitchFamily="18" charset="0"/>
                <a:cs typeface="Times New Roman" panose="02020603050405020304" pitchFamily="18" charset="0"/>
              </a:rPr>
              <a:t>BDAP</a:t>
            </a:r>
            <a:r>
              <a:rPr lang="zh-CN" altLang="en-US" sz="2400" b="0" dirty="0">
                <a:latin typeface="Times New Roman" panose="02020603050405020304" pitchFamily="18" charset="0"/>
                <a:cs typeface="Times New Roman" panose="02020603050405020304" pitchFamily="18" charset="0"/>
              </a:rPr>
              <a:t>平台在线编程模块</a:t>
            </a:r>
          </a:p>
        </p:txBody>
      </p:sp>
      <p:sp>
        <p:nvSpPr>
          <p:cNvPr id="7" name="页脚占位符 3">
            <a:extLst>
              <a:ext uri="{FF2B5EF4-FFF2-40B4-BE49-F238E27FC236}">
                <a16:creationId xmlns:a16="http://schemas.microsoft.com/office/drawing/2014/main" id="{0C5C066C-7085-4AD3-A17C-2674DA0C749B}"/>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3" name="图片 2">
            <a:extLst>
              <a:ext uri="{FF2B5EF4-FFF2-40B4-BE49-F238E27FC236}">
                <a16:creationId xmlns:a16="http://schemas.microsoft.com/office/drawing/2014/main" id="{CA81E65F-2576-4C26-BEB9-17FB36CFBD3F}"/>
              </a:ext>
            </a:extLst>
          </p:cNvPr>
          <p:cNvPicPr>
            <a:picLocks noChangeAspect="1"/>
          </p:cNvPicPr>
          <p:nvPr/>
        </p:nvPicPr>
        <p:blipFill>
          <a:blip r:embed="rId3"/>
          <a:stretch>
            <a:fillRect/>
          </a:stretch>
        </p:blipFill>
        <p:spPr>
          <a:xfrm>
            <a:off x="1691680" y="1803497"/>
            <a:ext cx="5053980" cy="4559569"/>
          </a:xfrm>
          <a:prstGeom prst="rect">
            <a:avLst/>
          </a:prstGeom>
        </p:spPr>
      </p:pic>
    </p:spTree>
    <p:extLst>
      <p:ext uri="{BB962C8B-B14F-4D97-AF65-F5344CB8AC3E}">
        <p14:creationId xmlns:p14="http://schemas.microsoft.com/office/powerpoint/2010/main" val="1405881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8" name="文本框 7"/>
          <p:cNvSpPr txBox="1"/>
          <p:nvPr/>
        </p:nvSpPr>
        <p:spPr>
          <a:xfrm>
            <a:off x="107453" y="1220478"/>
            <a:ext cx="8640960" cy="941796"/>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利用</a:t>
            </a:r>
            <a:r>
              <a:rPr lang="en-US" altLang="zh-CN" sz="2400" b="0" dirty="0">
                <a:latin typeface="Times New Roman" panose="02020603050405020304" pitchFamily="18" charset="0"/>
                <a:cs typeface="Times New Roman" panose="02020603050405020304" pitchFamily="18" charset="0"/>
              </a:rPr>
              <a:t>pandas</a:t>
            </a:r>
            <a:r>
              <a:rPr lang="zh-CN" altLang="en-US" sz="2400" b="0" dirty="0">
                <a:latin typeface="Times New Roman" panose="02020603050405020304" pitchFamily="18" charset="0"/>
                <a:cs typeface="Times New Roman" panose="02020603050405020304" pitchFamily="18" charset="0"/>
              </a:rPr>
              <a:t>库进行数据格式转换</a:t>
            </a:r>
            <a:endParaRPr lang="en-US" altLang="zh-CN" sz="2400" b="0" dirty="0">
              <a:latin typeface="Times New Roman" panose="02020603050405020304" pitchFamily="18" charset="0"/>
              <a:cs typeface="Times New Roman" panose="02020603050405020304" pitchFamily="18" charset="0"/>
            </a:endParaRPr>
          </a:p>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利用</a:t>
            </a:r>
            <a:r>
              <a:rPr lang="en-US" altLang="zh-CN" sz="2400" b="0" dirty="0" err="1">
                <a:latin typeface="Times New Roman" panose="02020603050405020304" pitchFamily="18" charset="0"/>
                <a:cs typeface="Times New Roman" panose="02020603050405020304" pitchFamily="18" charset="0"/>
              </a:rPr>
              <a:t>sklearn</a:t>
            </a:r>
            <a:r>
              <a:rPr lang="zh-CN" altLang="en-US" sz="2400" b="0" dirty="0">
                <a:latin typeface="Times New Roman" panose="02020603050405020304" pitchFamily="18" charset="0"/>
                <a:cs typeface="Times New Roman" panose="02020603050405020304" pitchFamily="18" charset="0"/>
              </a:rPr>
              <a:t>库将数据集划分为训练集和测试集</a:t>
            </a:r>
          </a:p>
        </p:txBody>
      </p:sp>
      <p:sp>
        <p:nvSpPr>
          <p:cNvPr id="7" name="页脚占位符 3">
            <a:extLst>
              <a:ext uri="{FF2B5EF4-FFF2-40B4-BE49-F238E27FC236}">
                <a16:creationId xmlns:a16="http://schemas.microsoft.com/office/drawing/2014/main" id="{0C5C066C-7085-4AD3-A17C-2674DA0C749B}"/>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10" name="图片 9">
            <a:extLst>
              <a:ext uri="{FF2B5EF4-FFF2-40B4-BE49-F238E27FC236}">
                <a16:creationId xmlns:a16="http://schemas.microsoft.com/office/drawing/2014/main" id="{3230014E-9F23-4FF8-B5C4-3EFC9BF30CFB}"/>
              </a:ext>
            </a:extLst>
          </p:cNvPr>
          <p:cNvPicPr>
            <a:picLocks noChangeAspect="1"/>
          </p:cNvPicPr>
          <p:nvPr/>
        </p:nvPicPr>
        <p:blipFill>
          <a:blip r:embed="rId3"/>
          <a:stretch>
            <a:fillRect/>
          </a:stretch>
        </p:blipFill>
        <p:spPr>
          <a:xfrm>
            <a:off x="827584" y="2708920"/>
            <a:ext cx="7852985" cy="2346253"/>
          </a:xfrm>
          <a:prstGeom prst="rect">
            <a:avLst/>
          </a:prstGeom>
        </p:spPr>
      </p:pic>
    </p:spTree>
    <p:extLst>
      <p:ext uri="{BB962C8B-B14F-4D97-AF65-F5344CB8AC3E}">
        <p14:creationId xmlns:p14="http://schemas.microsoft.com/office/powerpoint/2010/main" val="2980912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8" name="文本框 7"/>
          <p:cNvSpPr txBox="1"/>
          <p:nvPr/>
        </p:nvSpPr>
        <p:spPr>
          <a:xfrm>
            <a:off x="107453" y="1220478"/>
            <a:ext cx="8640960" cy="424732"/>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预览得到的</a:t>
            </a:r>
            <a:r>
              <a:rPr lang="en-US" altLang="zh-CN" sz="2400" b="0" dirty="0">
                <a:latin typeface="Times New Roman" panose="02020603050405020304" pitchFamily="18" charset="0"/>
                <a:cs typeface="Times New Roman" panose="02020603050405020304" pitchFamily="18" charset="0"/>
              </a:rPr>
              <a:t>csv</a:t>
            </a:r>
            <a:r>
              <a:rPr lang="zh-CN" altLang="en-US" sz="2400" b="0" dirty="0">
                <a:latin typeface="Times New Roman" panose="02020603050405020304" pitchFamily="18" charset="0"/>
                <a:cs typeface="Times New Roman" panose="02020603050405020304" pitchFamily="18" charset="0"/>
              </a:rPr>
              <a:t>文件并上传至</a:t>
            </a:r>
            <a:r>
              <a:rPr lang="en-US" altLang="zh-CN" sz="2400" b="0" dirty="0">
                <a:latin typeface="Times New Roman" panose="02020603050405020304" pitchFamily="18" charset="0"/>
                <a:cs typeface="Times New Roman" panose="02020603050405020304" pitchFamily="18" charset="0"/>
              </a:rPr>
              <a:t>BDAP</a:t>
            </a:r>
            <a:r>
              <a:rPr lang="zh-CN" altLang="en-US" sz="2400" b="0" dirty="0">
                <a:latin typeface="Times New Roman" panose="02020603050405020304" pitchFamily="18" charset="0"/>
                <a:cs typeface="Times New Roman" panose="02020603050405020304" pitchFamily="18" charset="0"/>
              </a:rPr>
              <a:t>平台</a:t>
            </a:r>
          </a:p>
        </p:txBody>
      </p:sp>
      <p:sp>
        <p:nvSpPr>
          <p:cNvPr id="7" name="页脚占位符 3">
            <a:extLst>
              <a:ext uri="{FF2B5EF4-FFF2-40B4-BE49-F238E27FC236}">
                <a16:creationId xmlns:a16="http://schemas.microsoft.com/office/drawing/2014/main" id="{0C5C066C-7085-4AD3-A17C-2674DA0C749B}"/>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4" name="图片 3">
            <a:extLst>
              <a:ext uri="{FF2B5EF4-FFF2-40B4-BE49-F238E27FC236}">
                <a16:creationId xmlns:a16="http://schemas.microsoft.com/office/drawing/2014/main" id="{E29D0F1D-00CF-4A67-AE5C-69CE1263633E}"/>
              </a:ext>
            </a:extLst>
          </p:cNvPr>
          <p:cNvPicPr>
            <a:picLocks noChangeAspect="1"/>
          </p:cNvPicPr>
          <p:nvPr/>
        </p:nvPicPr>
        <p:blipFill>
          <a:blip r:embed="rId3"/>
          <a:stretch>
            <a:fillRect/>
          </a:stretch>
        </p:blipFill>
        <p:spPr>
          <a:xfrm>
            <a:off x="864121" y="1826492"/>
            <a:ext cx="7415757" cy="4461272"/>
          </a:xfrm>
          <a:prstGeom prst="rect">
            <a:avLst/>
          </a:prstGeom>
        </p:spPr>
      </p:pic>
    </p:spTree>
    <p:extLst>
      <p:ext uri="{BB962C8B-B14F-4D97-AF65-F5344CB8AC3E}">
        <p14:creationId xmlns:p14="http://schemas.microsoft.com/office/powerpoint/2010/main" val="2975850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8" name="文本框 7"/>
          <p:cNvSpPr txBox="1"/>
          <p:nvPr/>
        </p:nvSpPr>
        <p:spPr>
          <a:xfrm>
            <a:off x="107453" y="1220478"/>
            <a:ext cx="8640960" cy="424732"/>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搭建工作流</a:t>
            </a:r>
          </a:p>
        </p:txBody>
      </p:sp>
      <p:sp>
        <p:nvSpPr>
          <p:cNvPr id="7" name="页脚占位符 3">
            <a:extLst>
              <a:ext uri="{FF2B5EF4-FFF2-40B4-BE49-F238E27FC236}">
                <a16:creationId xmlns:a16="http://schemas.microsoft.com/office/drawing/2014/main" id="{0C5C066C-7085-4AD3-A17C-2674DA0C749B}"/>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pic>
        <p:nvPicPr>
          <p:cNvPr id="3" name="图片 2">
            <a:extLst>
              <a:ext uri="{FF2B5EF4-FFF2-40B4-BE49-F238E27FC236}">
                <a16:creationId xmlns:a16="http://schemas.microsoft.com/office/drawing/2014/main" id="{9B183A47-2F33-41B0-85ED-C28BC3DFF4B8}"/>
              </a:ext>
            </a:extLst>
          </p:cNvPr>
          <p:cNvPicPr>
            <a:picLocks noChangeAspect="1"/>
          </p:cNvPicPr>
          <p:nvPr/>
        </p:nvPicPr>
        <p:blipFill>
          <a:blip r:embed="rId3"/>
          <a:stretch>
            <a:fillRect/>
          </a:stretch>
        </p:blipFill>
        <p:spPr>
          <a:xfrm>
            <a:off x="1187624" y="2115731"/>
            <a:ext cx="7136085" cy="3978062"/>
          </a:xfrm>
          <a:prstGeom prst="rect">
            <a:avLst/>
          </a:prstGeom>
        </p:spPr>
      </p:pic>
    </p:spTree>
    <p:extLst>
      <p:ext uri="{BB962C8B-B14F-4D97-AF65-F5344CB8AC3E}">
        <p14:creationId xmlns:p14="http://schemas.microsoft.com/office/powerpoint/2010/main" val="1846634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实验六</a:t>
            </a:r>
          </a:p>
        </p:txBody>
      </p:sp>
      <p:sp>
        <p:nvSpPr>
          <p:cNvPr id="8" name="文本框 7"/>
          <p:cNvSpPr txBox="1"/>
          <p:nvPr/>
        </p:nvSpPr>
        <p:spPr>
          <a:xfrm>
            <a:off x="107453" y="1220478"/>
            <a:ext cx="8640960" cy="757130"/>
          </a:xfrm>
          <a:prstGeom prst="rect">
            <a:avLst/>
          </a:prstGeom>
          <a:noFill/>
        </p:spPr>
        <p:txBody>
          <a:bodyPr wrap="square" rtlCol="0">
            <a:spAutoFit/>
          </a:bodyPr>
          <a:lstStyle/>
          <a:p>
            <a:pPr marL="665163" lvl="1" indent="-187325">
              <a:lnSpc>
                <a:spcPct val="90000"/>
              </a:lnSpc>
              <a:spcBef>
                <a:spcPct val="50000"/>
              </a:spcBef>
              <a:buClr>
                <a:schemeClr val="bg2">
                  <a:lumMod val="20000"/>
                  <a:lumOff val="80000"/>
                </a:schemeClr>
              </a:buClr>
              <a:buFont typeface="Wingdings" panose="05000000000000000000" pitchFamily="2" charset="2"/>
              <a:buChar char="l"/>
            </a:pPr>
            <a:r>
              <a:rPr lang="zh-CN" altLang="en-US" sz="2400" b="0" dirty="0">
                <a:latin typeface="Times New Roman" panose="02020603050405020304" pitchFamily="18" charset="0"/>
                <a:cs typeface="Times New Roman" panose="02020603050405020304" pitchFamily="18" charset="0"/>
              </a:rPr>
              <a:t>基于这是拓展实验，参数配置将会演示一次，但并不会展示在</a:t>
            </a:r>
            <a:r>
              <a:rPr lang="en-US" altLang="zh-CN" sz="2400" b="0" dirty="0">
                <a:latin typeface="Times New Roman" panose="02020603050405020304" pitchFamily="18" charset="0"/>
                <a:cs typeface="Times New Roman" panose="02020603050405020304" pitchFamily="18" charset="0"/>
              </a:rPr>
              <a:t>ppt</a:t>
            </a:r>
            <a:r>
              <a:rPr lang="zh-CN" altLang="en-US" sz="2400" b="0" dirty="0">
                <a:latin typeface="Times New Roman" panose="02020603050405020304" pitchFamily="18" charset="0"/>
                <a:cs typeface="Times New Roman" panose="02020603050405020304" pitchFamily="18" charset="0"/>
              </a:rPr>
              <a:t>中，请同学们自行完成参数配置并得到实验结果</a:t>
            </a:r>
          </a:p>
        </p:txBody>
      </p:sp>
      <p:sp>
        <p:nvSpPr>
          <p:cNvPr id="7" name="页脚占位符 3">
            <a:extLst>
              <a:ext uri="{FF2B5EF4-FFF2-40B4-BE49-F238E27FC236}">
                <a16:creationId xmlns:a16="http://schemas.microsoft.com/office/drawing/2014/main" id="{0C5C066C-7085-4AD3-A17C-2674DA0C749B}"/>
              </a:ext>
            </a:extLst>
          </p:cNvPr>
          <p:cNvSpPr>
            <a:spLocks noGrp="1"/>
          </p:cNvSpPr>
          <p:nvPr>
            <p:ph type="ftr" sz="quarter" idx="10"/>
          </p:nvPr>
        </p:nvSpPr>
        <p:spPr>
          <a:xfrm>
            <a:off x="1979613" y="6564315"/>
            <a:ext cx="4896643" cy="293687"/>
          </a:xfrm>
        </p:spPr>
        <p:txBody>
          <a:bodyPr/>
          <a:lstStyle/>
          <a:p>
            <a:pPr lvl="0" eaLnBrk="1" fontAlgn="auto" hangingPunct="1">
              <a:spcBef>
                <a:spcPts val="0"/>
              </a:spcBef>
              <a:spcAft>
                <a:spcPts val="0"/>
              </a:spcAft>
            </a:pPr>
            <a:r>
              <a:rPr lang="en-US" altLang="zh-CN" b="0">
                <a:solidFill>
                  <a:srgbClr val="FFFFFF"/>
                </a:solidFill>
                <a:latin typeface="Arial"/>
                <a:ea typeface="+mn-ea"/>
              </a:rPr>
              <a:t>© 2021 BUPT DSSC             </a:t>
            </a:r>
            <a:r>
              <a:rPr lang="zh-CN" altLang="en-US" b="0">
                <a:solidFill>
                  <a:srgbClr val="FFFFFF"/>
                </a:solidFill>
                <a:latin typeface="Arial"/>
                <a:ea typeface="+mn-ea"/>
              </a:rPr>
              <a:t>北京邮电大学 数据科学与服务中心</a:t>
            </a:r>
            <a:endParaRPr lang="zh-CN" altLang="en-US" b="0" dirty="0">
              <a:solidFill>
                <a:srgbClr val="FFFFFF"/>
              </a:solidFill>
              <a:latin typeface="Arial"/>
              <a:ea typeface="+mn-ea"/>
            </a:endParaRPr>
          </a:p>
        </p:txBody>
      </p:sp>
    </p:spTree>
    <p:extLst>
      <p:ext uri="{BB962C8B-B14F-4D97-AF65-F5344CB8AC3E}">
        <p14:creationId xmlns:p14="http://schemas.microsoft.com/office/powerpoint/2010/main" val="2044343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sz="quarter" idx="1"/>
          </p:nvPr>
        </p:nvSpPr>
        <p:spPr>
          <a:xfrm>
            <a:off x="431540" y="1988840"/>
            <a:ext cx="8280920" cy="1069975"/>
          </a:xfrm>
        </p:spPr>
        <p:txBody>
          <a:bodyPr/>
          <a:lstStyle/>
          <a:p>
            <a:r>
              <a:rPr lang="zh-CN" altLang="en-US" dirty="0">
                <a:latin typeface="微软雅黑" panose="020B0503020204020204" pitchFamily="34" charset="-122"/>
                <a:ea typeface="微软雅黑" panose="020B0503020204020204" pitchFamily="34" charset="-122"/>
              </a:rPr>
              <a:t>选做实验：波士顿房价预测</a:t>
            </a:r>
          </a:p>
        </p:txBody>
      </p:sp>
    </p:spTree>
    <p:extLst>
      <p:ext uri="{BB962C8B-B14F-4D97-AF65-F5344CB8AC3E}">
        <p14:creationId xmlns:p14="http://schemas.microsoft.com/office/powerpoint/2010/main" val="1924237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52066"/>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现实生活中的回归分析</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13" name="文本框 12">
            <a:extLst>
              <a:ext uri="{FF2B5EF4-FFF2-40B4-BE49-F238E27FC236}">
                <a16:creationId xmlns:a16="http://schemas.microsoft.com/office/drawing/2014/main" id="{EEEB7A05-DE46-4E8F-A309-F21BD7B6FB11}"/>
              </a:ext>
            </a:extLst>
          </p:cNvPr>
          <p:cNvSpPr txBox="1"/>
          <p:nvPr/>
        </p:nvSpPr>
        <p:spPr>
          <a:xfrm>
            <a:off x="498217" y="1869950"/>
            <a:ext cx="8101481" cy="1525739"/>
          </a:xfrm>
          <a:prstGeom prst="rect">
            <a:avLst/>
          </a:prstGeom>
          <a:noFill/>
        </p:spPr>
        <p:txBody>
          <a:bodyPr wrap="square">
            <a:spAutoFit/>
          </a:bodyPr>
          <a:lstStyle/>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人类生活的现实社会经常遇到预测的问题，比如预测房价高低、股票走势等，而影响这些结果的因素是多种多样的，如房子所在城市、交通情况、学校分布等都会影响房价高低。</a:t>
            </a:r>
            <a:endParaRPr kumimoji="0" lang="en-US" altLang="zh-CN" sz="1600" b="0" i="0" u="none" strike="noStrike" kern="1200" cap="none" spc="0" normalizeH="0" baseline="0" noProof="0" dirty="0">
              <a:ln>
                <a:noFill/>
              </a:ln>
              <a:solidFill>
                <a:srgbClr val="124171"/>
              </a:solidFill>
              <a:effectLst/>
              <a:uLnTx/>
              <a:uFillTx/>
              <a:latin typeface="-apple-system"/>
              <a:ea typeface="+mn-ea"/>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建立影响因素（</a:t>
            </a:r>
            <a:r>
              <a:rPr kumimoji="0" lang="zh-CN" altLang="en-US" sz="1600" b="1" i="0" u="none" strike="noStrike" kern="1200" cap="none" spc="0" normalizeH="0" baseline="0" noProof="0" dirty="0">
                <a:ln>
                  <a:noFill/>
                </a:ln>
                <a:solidFill>
                  <a:srgbClr val="124171"/>
                </a:solidFill>
                <a:effectLst/>
                <a:uLnTx/>
                <a:uFillTx/>
                <a:latin typeface="-apple-system"/>
                <a:ea typeface="+mn-ea"/>
                <a:cs typeface="+mn-cs"/>
              </a:rPr>
              <a:t>自变量</a:t>
            </a: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）与最终结果（</a:t>
            </a:r>
            <a:r>
              <a:rPr kumimoji="0" lang="zh-CN" altLang="en-US" sz="1600" b="1" i="0" u="none" strike="noStrike" kern="1200" cap="none" spc="0" normalizeH="0" baseline="0" noProof="0" dirty="0">
                <a:ln>
                  <a:noFill/>
                </a:ln>
                <a:solidFill>
                  <a:srgbClr val="124171"/>
                </a:solidFill>
                <a:effectLst/>
                <a:uLnTx/>
                <a:uFillTx/>
                <a:latin typeface="-apple-system"/>
                <a:ea typeface="+mn-ea"/>
                <a:cs typeface="+mn-cs"/>
              </a:rPr>
              <a:t>因变量</a:t>
            </a: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）之间关系的方法就是回归分析。</a:t>
            </a:r>
            <a:endParaRPr kumimoji="0" lang="zh-CN" altLang="en-US" sz="1600" b="0" i="0" u="none" strike="noStrike" kern="1200" cap="none" spc="0" normalizeH="0" baseline="0" noProof="0" dirty="0">
              <a:ln>
                <a:noFill/>
              </a:ln>
              <a:solidFill>
                <a:srgbClr val="124171"/>
              </a:solidFill>
              <a:effectLst/>
              <a:uLnTx/>
              <a:uFillTx/>
              <a:latin typeface="Arial"/>
              <a:ea typeface="+mn-ea"/>
              <a:cs typeface="+mn-cs"/>
            </a:endParaRPr>
          </a:p>
        </p:txBody>
      </p:sp>
      <p:pic>
        <p:nvPicPr>
          <p:cNvPr id="7172" name="Picture 4" descr="查看源图像">
            <a:extLst>
              <a:ext uri="{FF2B5EF4-FFF2-40B4-BE49-F238E27FC236}">
                <a16:creationId xmlns:a16="http://schemas.microsoft.com/office/drawing/2014/main" id="{6B8FD2F5-23DE-4C7C-8285-3642831CD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849" y="3565029"/>
            <a:ext cx="5351928" cy="2627648"/>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2D223A72-2186-4F85-9398-8B7526520DF2}"/>
              </a:ext>
            </a:extLst>
          </p:cNvPr>
          <p:cNvSpPr txBox="1"/>
          <p:nvPr/>
        </p:nvSpPr>
        <p:spPr>
          <a:xfrm>
            <a:off x="3738701" y="6192676"/>
            <a:ext cx="2016224" cy="256224"/>
          </a:xfrm>
          <a:prstGeom prst="rect">
            <a:avLst/>
          </a:prstGeom>
          <a:noFill/>
        </p:spPr>
        <p:txBody>
          <a:bodyPr wrap="square" rtlCol="0">
            <a:spAutoFit/>
          </a:bodyPr>
          <a:lstStyle/>
          <a:p>
            <a:pPr marL="0" marR="0" lvl="0" indent="0" algn="ctr" defTabSz="914400" rtl="0" eaLnBrk="0" fontAlgn="base" latinLnBrk="0" hangingPunct="0">
              <a:lnSpc>
                <a:spcPct val="75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(a) </a:t>
            </a:r>
            <a:r>
              <a:rPr kumimoji="0" lang="zh-CN" altLang="en-US"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股价</a:t>
            </a:r>
            <a:r>
              <a:rPr kumimoji="0" lang="en-US" altLang="zh-CN"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K</a:t>
            </a:r>
            <a:r>
              <a:rPr kumimoji="0" lang="zh-CN" altLang="en-US"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线图</a:t>
            </a:r>
          </a:p>
        </p:txBody>
      </p:sp>
    </p:spTree>
    <p:extLst>
      <p:ext uri="{BB962C8B-B14F-4D97-AF65-F5344CB8AC3E}">
        <p14:creationId xmlns:p14="http://schemas.microsoft.com/office/powerpoint/2010/main" val="1240259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6146" name="Picture 2" descr="回归分析方法">
            <a:extLst>
              <a:ext uri="{FF2B5EF4-FFF2-40B4-BE49-F238E27FC236}">
                <a16:creationId xmlns:a16="http://schemas.microsoft.com/office/drawing/2014/main" id="{42909BF0-E996-4E33-88F0-7196A69E7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3671961"/>
            <a:ext cx="3263152" cy="223095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回归分析定义</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13" name="文本框 12">
            <a:extLst>
              <a:ext uri="{FF2B5EF4-FFF2-40B4-BE49-F238E27FC236}">
                <a16:creationId xmlns:a16="http://schemas.microsoft.com/office/drawing/2014/main" id="{EEEB7A05-DE46-4E8F-A309-F21BD7B6FB11}"/>
              </a:ext>
            </a:extLst>
          </p:cNvPr>
          <p:cNvSpPr txBox="1"/>
          <p:nvPr/>
        </p:nvSpPr>
        <p:spPr>
          <a:xfrm>
            <a:off x="567389" y="1937508"/>
            <a:ext cx="8101481" cy="1156407"/>
          </a:xfrm>
          <a:prstGeom prst="rect">
            <a:avLst/>
          </a:prstGeom>
          <a:noFill/>
        </p:spPr>
        <p:txBody>
          <a:bodyPr wrap="square">
            <a:spAutoFit/>
          </a:bodyPr>
          <a:lstStyle/>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确定两种或两种以上变量间相互依赖的定量关系的一种统计分析方法。</a:t>
            </a:r>
            <a:endParaRPr kumimoji="0" lang="en-US" altLang="zh-CN" sz="1600" b="0" i="0" u="none" strike="noStrike" kern="1200" cap="none" spc="0" normalizeH="0" baseline="0" noProof="0" dirty="0">
              <a:ln>
                <a:noFill/>
              </a:ln>
              <a:solidFill>
                <a:srgbClr val="124171"/>
              </a:solidFill>
              <a:effectLst/>
              <a:uLnTx/>
              <a:uFillTx/>
              <a:latin typeface="-apple-system"/>
              <a:ea typeface="+mn-ea"/>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回归与分类最大的区别是：回归模型需要预测一个</a:t>
            </a:r>
            <a:r>
              <a:rPr kumimoji="0" lang="zh-CN" altLang="en-US" sz="1600" b="1" i="0" u="none" strike="noStrike" kern="1200" cap="none" spc="0" normalizeH="0" baseline="0" noProof="0" dirty="0">
                <a:ln>
                  <a:noFill/>
                </a:ln>
                <a:solidFill>
                  <a:srgbClr val="124171"/>
                </a:solidFill>
                <a:effectLst/>
                <a:uLnTx/>
                <a:uFillTx/>
                <a:latin typeface="-apple-system"/>
                <a:ea typeface="+mn-ea"/>
                <a:cs typeface="+mn-cs"/>
              </a:rPr>
              <a:t>连续值</a:t>
            </a: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，而分类模型只需要预测</a:t>
            </a:r>
            <a:r>
              <a:rPr kumimoji="0" lang="zh-CN" altLang="en-US" sz="1600" b="1" i="0" u="none" strike="noStrike" kern="1200" cap="none" spc="0" normalizeH="0" baseline="0" noProof="0" dirty="0">
                <a:ln>
                  <a:noFill/>
                </a:ln>
                <a:solidFill>
                  <a:srgbClr val="124171"/>
                </a:solidFill>
                <a:effectLst/>
                <a:uLnTx/>
                <a:uFillTx/>
                <a:latin typeface="-apple-system"/>
                <a:ea typeface="+mn-ea"/>
                <a:cs typeface="+mn-cs"/>
              </a:rPr>
              <a:t>离散的类别</a:t>
            </a:r>
            <a:r>
              <a:rPr kumimoji="0" lang="zh-CN" altLang="en-US" sz="1600" b="0" i="0" u="none" strike="noStrike" kern="1200" cap="none" spc="0" normalizeH="0" baseline="0" noProof="0" dirty="0">
                <a:ln>
                  <a:noFill/>
                </a:ln>
                <a:solidFill>
                  <a:srgbClr val="124171"/>
                </a:solidFill>
                <a:effectLst/>
                <a:uLnTx/>
                <a:uFillTx/>
                <a:latin typeface="-apple-system"/>
                <a:ea typeface="+mn-ea"/>
                <a:cs typeface="+mn-cs"/>
              </a:rPr>
              <a:t>。</a:t>
            </a:r>
            <a:endParaRPr kumimoji="0" lang="zh-CN" altLang="en-US" sz="1600" b="0" i="0" u="none" strike="noStrike" kern="1200" cap="none" spc="0" normalizeH="0" baseline="0" noProof="0" dirty="0">
              <a:ln>
                <a:noFill/>
              </a:ln>
              <a:solidFill>
                <a:srgbClr val="124171"/>
              </a:solidFill>
              <a:effectLst/>
              <a:uLnTx/>
              <a:uFillTx/>
              <a:latin typeface="Arial"/>
              <a:ea typeface="+mn-ea"/>
              <a:cs typeface="+mn-cs"/>
            </a:endParaRPr>
          </a:p>
        </p:txBody>
      </p:sp>
      <p:sp>
        <p:nvSpPr>
          <p:cNvPr id="14" name="文本框 13">
            <a:extLst>
              <a:ext uri="{FF2B5EF4-FFF2-40B4-BE49-F238E27FC236}">
                <a16:creationId xmlns:a16="http://schemas.microsoft.com/office/drawing/2014/main" id="{F0FF7A33-6F09-4E2C-A489-D0611E171769}"/>
              </a:ext>
            </a:extLst>
          </p:cNvPr>
          <p:cNvSpPr txBox="1"/>
          <p:nvPr/>
        </p:nvSpPr>
        <p:spPr>
          <a:xfrm>
            <a:off x="1690883" y="6037973"/>
            <a:ext cx="2016224" cy="256224"/>
          </a:xfrm>
          <a:prstGeom prst="rect">
            <a:avLst/>
          </a:prstGeom>
          <a:noFill/>
        </p:spPr>
        <p:txBody>
          <a:bodyPr wrap="square" rtlCol="0">
            <a:spAutoFit/>
          </a:bodyPr>
          <a:lstStyle/>
          <a:p>
            <a:pPr marL="0" marR="0" lvl="0" indent="0" algn="ctr" defTabSz="914400" rtl="0" eaLnBrk="0" fontAlgn="base" latinLnBrk="0" hangingPunct="0">
              <a:lnSpc>
                <a:spcPct val="75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(b) </a:t>
            </a:r>
            <a:r>
              <a:rPr kumimoji="0" lang="zh-CN" altLang="en-US"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回归分类</a:t>
            </a:r>
          </a:p>
        </p:txBody>
      </p:sp>
      <p:sp>
        <p:nvSpPr>
          <p:cNvPr id="15" name="文本框 14">
            <a:extLst>
              <a:ext uri="{FF2B5EF4-FFF2-40B4-BE49-F238E27FC236}">
                <a16:creationId xmlns:a16="http://schemas.microsoft.com/office/drawing/2014/main" id="{E30FB0BC-5415-4762-B74C-EE00F6B90AFD}"/>
              </a:ext>
            </a:extLst>
          </p:cNvPr>
          <p:cNvSpPr txBox="1"/>
          <p:nvPr/>
        </p:nvSpPr>
        <p:spPr>
          <a:xfrm>
            <a:off x="5957464" y="6044921"/>
            <a:ext cx="2016224" cy="256224"/>
          </a:xfrm>
          <a:prstGeom prst="rect">
            <a:avLst/>
          </a:prstGeom>
          <a:noFill/>
        </p:spPr>
        <p:txBody>
          <a:bodyPr wrap="square" rtlCol="0">
            <a:spAutoFit/>
          </a:bodyPr>
          <a:lstStyle/>
          <a:p>
            <a:pPr marL="0" marR="0" lvl="0" indent="0" algn="ctr" defTabSz="914400" rtl="0" eaLnBrk="0" fontAlgn="base" latinLnBrk="0" hangingPunct="0">
              <a:lnSpc>
                <a:spcPct val="75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(c) </a:t>
            </a:r>
            <a:r>
              <a:rPr kumimoji="0" lang="zh-CN" altLang="en-US" sz="1400" b="0"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cs"/>
              </a:rPr>
              <a:t>一元线性回归</a:t>
            </a:r>
          </a:p>
        </p:txBody>
      </p:sp>
      <p:pic>
        <p:nvPicPr>
          <p:cNvPr id="16" name="图形 15">
            <a:extLst>
              <a:ext uri="{FF2B5EF4-FFF2-40B4-BE49-F238E27FC236}">
                <a16:creationId xmlns:a16="http://schemas.microsoft.com/office/drawing/2014/main" id="{C72BBFA3-023D-417F-9B73-587311F5AD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1743" y="3280028"/>
            <a:ext cx="4693470" cy="2757945"/>
          </a:xfrm>
          <a:prstGeom prst="rect">
            <a:avLst/>
          </a:prstGeom>
        </p:spPr>
      </p:pic>
    </p:spTree>
    <p:extLst>
      <p:ext uri="{BB962C8B-B14F-4D97-AF65-F5344CB8AC3E}">
        <p14:creationId xmlns:p14="http://schemas.microsoft.com/office/powerpoint/2010/main" val="2225372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选做实验：波士顿房价预测</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13" name="文本框 12">
            <a:extLst>
              <a:ext uri="{FF2B5EF4-FFF2-40B4-BE49-F238E27FC236}">
                <a16:creationId xmlns:a16="http://schemas.microsoft.com/office/drawing/2014/main" id="{EEEB7A05-DE46-4E8F-A309-F21BD7B6FB11}"/>
              </a:ext>
            </a:extLst>
          </p:cNvPr>
          <p:cNvSpPr txBox="1"/>
          <p:nvPr/>
        </p:nvSpPr>
        <p:spPr>
          <a:xfrm>
            <a:off x="567389" y="1937508"/>
            <a:ext cx="8101481" cy="1295868"/>
          </a:xfrm>
          <a:prstGeom prst="rect">
            <a:avLst/>
          </a:prstGeom>
          <a:noFill/>
        </p:spPr>
        <p:txBody>
          <a:bodyPr wrap="square">
            <a:spAutoFit/>
          </a:bodyPr>
          <a:lstStyle/>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示例代码：波士顿房价预测</a:t>
            </a:r>
            <a:r>
              <a:rPr kumimoji="0" lang="en-US" altLang="zh-CN" sz="1800" b="0" i="0" u="none" strike="noStrike" kern="1200" cap="none" spc="0" normalizeH="0" baseline="0" noProof="0" dirty="0">
                <a:ln>
                  <a:noFill/>
                </a:ln>
                <a:solidFill>
                  <a:srgbClr val="124171"/>
                </a:solidFill>
                <a:effectLst/>
                <a:uLnTx/>
                <a:uFillTx/>
                <a:latin typeface="-apple-system"/>
                <a:ea typeface="+mn-ea"/>
                <a:cs typeface="+mn-cs"/>
              </a:rPr>
              <a:t>.</a:t>
            </a:r>
            <a:r>
              <a:rPr kumimoji="0" lang="en-US" altLang="zh-CN" sz="1800" b="0" i="0" u="none" strike="noStrike" kern="1200" cap="none" spc="0" normalizeH="0" baseline="0" noProof="0" dirty="0" err="1">
                <a:ln>
                  <a:noFill/>
                </a:ln>
                <a:solidFill>
                  <a:srgbClr val="124171"/>
                </a:solidFill>
                <a:effectLst/>
                <a:uLnTx/>
                <a:uFillTx/>
                <a:latin typeface="-apple-system"/>
                <a:ea typeface="+mn-ea"/>
                <a:cs typeface="+mn-cs"/>
              </a:rPr>
              <a:t>ipynb</a:t>
            </a:r>
            <a:endParaRPr kumimoji="0" lang="en-US" altLang="zh-CN" sz="1800" b="0" i="0" u="none" strike="noStrike" kern="1200" cap="none" spc="0" normalizeH="0" baseline="0" noProof="0" dirty="0">
              <a:ln>
                <a:noFill/>
              </a:ln>
              <a:solidFill>
                <a:srgbClr val="124171"/>
              </a:solidFill>
              <a:effectLst/>
              <a:uLnTx/>
              <a:uFillTx/>
              <a:latin typeface="-apple-system"/>
              <a:ea typeface="+mn-ea"/>
              <a:cs typeface="+mn-cs"/>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实验数据集：</a:t>
            </a:r>
            <a:r>
              <a:rPr kumimoji="0" lang="en-US" altLang="zh-CN" sz="1800" b="0" i="0" u="none" strike="noStrike" kern="1200" cap="none" spc="0" normalizeH="0" baseline="0" noProof="0" dirty="0">
                <a:ln>
                  <a:noFill/>
                </a:ln>
                <a:solidFill>
                  <a:srgbClr val="124171"/>
                </a:solidFill>
                <a:effectLst/>
                <a:uLnTx/>
                <a:uFillTx/>
                <a:latin typeface="-apple-system"/>
                <a:ea typeface="+mn-ea"/>
                <a:cs typeface="+mn-cs"/>
              </a:rPr>
              <a:t>boston_housing_data.csv</a:t>
            </a: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，可通过 </a:t>
            </a:r>
            <a:r>
              <a:rPr kumimoji="0" lang="en-US" altLang="zh-CN" sz="1800" b="0" i="0" u="none" strike="noStrike" kern="1200" cap="none" spc="0" normalizeH="0" baseline="0" noProof="0" dirty="0">
                <a:ln>
                  <a:noFill/>
                </a:ln>
                <a:solidFill>
                  <a:srgbClr val="124171"/>
                </a:solidFill>
                <a:effectLst/>
                <a:uLnTx/>
                <a:uFillTx/>
                <a:latin typeface="-apple-system"/>
                <a:ea typeface="+mn-ea"/>
                <a:cs typeface="+mn-cs"/>
              </a:rPr>
              <a:t>sklearn </a:t>
            </a: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包直接导入。列属性为一些房价的影响因素，如 </a:t>
            </a:r>
            <a:r>
              <a:rPr kumimoji="0" lang="en-US" altLang="zh-CN" sz="1800" b="0" i="0" u="none" strike="noStrike" kern="1200" cap="none" spc="0" normalizeH="0" baseline="0" noProof="0" dirty="0">
                <a:ln>
                  <a:noFill/>
                </a:ln>
                <a:solidFill>
                  <a:srgbClr val="124171"/>
                </a:solidFill>
                <a:effectLst/>
                <a:uLnTx/>
                <a:uFillTx/>
                <a:latin typeface="-apple-system"/>
                <a:ea typeface="+mn-ea"/>
                <a:cs typeface="+mn-cs"/>
              </a:rPr>
              <a:t>CRIM</a:t>
            </a: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a:t>
            </a:r>
            <a:r>
              <a:rPr kumimoji="0" lang="en-US" altLang="zh-CN" sz="1800" b="0" i="0" u="none" strike="noStrike" kern="1200" cap="none" spc="0" normalizeH="0" baseline="0" noProof="0" dirty="0">
                <a:ln>
                  <a:noFill/>
                </a:ln>
                <a:solidFill>
                  <a:srgbClr val="124171"/>
                </a:solidFill>
                <a:effectLst/>
                <a:uLnTx/>
                <a:uFillTx/>
                <a:latin typeface="-apple-system"/>
                <a:ea typeface="+mn-ea"/>
                <a:cs typeface="+mn-cs"/>
              </a:rPr>
              <a:t>ZN</a:t>
            </a: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a:t>
            </a:r>
            <a:r>
              <a:rPr kumimoji="0" lang="en-US" altLang="zh-CN" sz="1800" b="0" i="0" u="none" strike="noStrike" kern="1200" cap="none" spc="0" normalizeH="0" baseline="0" noProof="0" dirty="0">
                <a:ln>
                  <a:noFill/>
                </a:ln>
                <a:solidFill>
                  <a:srgbClr val="124171"/>
                </a:solidFill>
                <a:effectLst/>
                <a:uLnTx/>
                <a:uFillTx/>
                <a:latin typeface="-apple-system"/>
                <a:ea typeface="+mn-ea"/>
                <a:cs typeface="+mn-cs"/>
              </a:rPr>
              <a:t>RAD </a:t>
            </a: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等。</a:t>
            </a:r>
            <a:endParaRPr kumimoji="0" lang="en-US" altLang="zh-CN" sz="1800" b="0" i="0" u="none" strike="noStrike" kern="1200" cap="none" spc="0" normalizeH="0" baseline="0" noProof="0" dirty="0">
              <a:ln>
                <a:noFill/>
              </a:ln>
              <a:solidFill>
                <a:srgbClr val="124171"/>
              </a:solidFill>
              <a:effectLst/>
              <a:uLnTx/>
              <a:uFillTx/>
              <a:latin typeface="-apple-system"/>
              <a:ea typeface="+mn-ea"/>
              <a:cs typeface="+mn-cs"/>
            </a:endParaRPr>
          </a:p>
        </p:txBody>
      </p:sp>
      <p:pic>
        <p:nvPicPr>
          <p:cNvPr id="5" name="图片 4">
            <a:extLst>
              <a:ext uri="{FF2B5EF4-FFF2-40B4-BE49-F238E27FC236}">
                <a16:creationId xmlns:a16="http://schemas.microsoft.com/office/drawing/2014/main" id="{CBD69C97-3EDB-4F6F-B7DF-BBE90C605082}"/>
              </a:ext>
            </a:extLst>
          </p:cNvPr>
          <p:cNvPicPr>
            <a:picLocks noChangeAspect="1"/>
          </p:cNvPicPr>
          <p:nvPr/>
        </p:nvPicPr>
        <p:blipFill rotWithShape="1">
          <a:blip r:embed="rId3"/>
          <a:srcRect l="5195" t="13412" r="3236" b="3486"/>
          <a:stretch/>
        </p:blipFill>
        <p:spPr>
          <a:xfrm>
            <a:off x="1440783" y="3429000"/>
            <a:ext cx="6135665" cy="2700095"/>
          </a:xfrm>
          <a:prstGeom prst="rect">
            <a:avLst/>
          </a:prstGeom>
        </p:spPr>
      </p:pic>
    </p:spTree>
    <p:extLst>
      <p:ext uri="{BB962C8B-B14F-4D97-AF65-F5344CB8AC3E}">
        <p14:creationId xmlns:p14="http://schemas.microsoft.com/office/powerpoint/2010/main" val="113252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数据集</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13" name="文本框 12">
            <a:extLst>
              <a:ext uri="{FF2B5EF4-FFF2-40B4-BE49-F238E27FC236}">
                <a16:creationId xmlns:a16="http://schemas.microsoft.com/office/drawing/2014/main" id="{EEEB7A05-DE46-4E8F-A309-F21BD7B6FB11}"/>
              </a:ext>
            </a:extLst>
          </p:cNvPr>
          <p:cNvSpPr txBox="1"/>
          <p:nvPr/>
        </p:nvSpPr>
        <p:spPr>
          <a:xfrm>
            <a:off x="567389" y="1937508"/>
            <a:ext cx="8101481" cy="1294585"/>
          </a:xfrm>
          <a:prstGeom prst="rect">
            <a:avLst/>
          </a:prstGeom>
          <a:noFill/>
        </p:spPr>
        <p:txBody>
          <a:bodyPr wrap="square">
            <a:spAutoFit/>
          </a:bodyPr>
          <a:lstStyle/>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124171"/>
                </a:solidFill>
                <a:effectLst/>
                <a:uLnTx/>
                <a:uFillTx/>
                <a:latin typeface="-apple-system"/>
                <a:ea typeface="+mn-ea"/>
                <a:cs typeface="+mn-cs"/>
              </a:rPr>
              <a:t>此数据源于美国某经济学杂志上，分析研究波士顿房价。数据集中的每一行数据都是对波士顿周边或城镇房价的情况描述，每一列都是房价的一个影响因素。</a:t>
            </a:r>
            <a:endParaRPr kumimoji="0" lang="en-US" altLang="zh-CN" sz="1800" b="0" i="0" u="none" strike="noStrike" kern="1200" cap="none" spc="0" normalizeH="0" baseline="0" noProof="0" dirty="0">
              <a:ln>
                <a:noFill/>
              </a:ln>
              <a:solidFill>
                <a:srgbClr val="124171"/>
              </a:solidFill>
              <a:effectLst/>
              <a:uLnTx/>
              <a:uFillTx/>
              <a:latin typeface="-apple-system"/>
              <a:ea typeface="+mn-ea"/>
              <a:cs typeface="+mn-cs"/>
            </a:endParaRPr>
          </a:p>
        </p:txBody>
      </p:sp>
      <p:pic>
        <p:nvPicPr>
          <p:cNvPr id="8" name="图片 7">
            <a:extLst>
              <a:ext uri="{FF2B5EF4-FFF2-40B4-BE49-F238E27FC236}">
                <a16:creationId xmlns:a16="http://schemas.microsoft.com/office/drawing/2014/main" id="{8C800576-8B39-4A19-8445-AEDB0681B3E9}"/>
              </a:ext>
            </a:extLst>
          </p:cNvPr>
          <p:cNvPicPr>
            <a:picLocks noChangeAspect="1"/>
          </p:cNvPicPr>
          <p:nvPr/>
        </p:nvPicPr>
        <p:blipFill>
          <a:blip r:embed="rId3"/>
          <a:stretch>
            <a:fillRect/>
          </a:stretch>
        </p:blipFill>
        <p:spPr>
          <a:xfrm>
            <a:off x="1270075" y="3802710"/>
            <a:ext cx="7051717" cy="1527864"/>
          </a:xfrm>
          <a:prstGeom prst="rect">
            <a:avLst/>
          </a:prstGeom>
        </p:spPr>
      </p:pic>
    </p:spTree>
    <p:extLst>
      <p:ext uri="{BB962C8B-B14F-4D97-AF65-F5344CB8AC3E}">
        <p14:creationId xmlns:p14="http://schemas.microsoft.com/office/powerpoint/2010/main" val="261532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多元线性回归</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121408D-FCD5-4E23-9DB9-D0AF107A4674}"/>
                  </a:ext>
                </a:extLst>
              </p:cNvPr>
              <p:cNvSpPr txBox="1"/>
              <p:nvPr/>
            </p:nvSpPr>
            <p:spPr>
              <a:xfrm>
                <a:off x="1111623" y="2061882"/>
                <a:ext cx="7246027" cy="87395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设输入自变量为 </a:t>
                </a:r>
                <a14:m>
                  <m:oMath xmlns:m="http://schemas.openxmlformats.org/officeDocument/2006/math">
                    <m:sSub>
                      <m:sSubPr>
                        <m:ctrlP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ctrlPr>
                      </m:sSubPr>
                      <m:e>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𝑥</m:t>
                        </m:r>
                      </m:e>
                      <m: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1</m:t>
                        </m:r>
                      </m:sub>
                    </m:s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m:t>
                    </m:r>
                    <m:sSub>
                      <m:sSubPr>
                        <m:ctrlP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ctrlPr>
                      </m:sSubPr>
                      <m:e>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  </m:t>
                        </m:r>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𝑥</m:t>
                        </m:r>
                      </m:e>
                      <m: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2</m:t>
                        </m:r>
                      </m:sub>
                    </m:s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  </m:t>
                    </m:r>
                    <m:sSub>
                      <m:sSubPr>
                        <m:ctrlP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ctrlPr>
                      </m:sSubPr>
                      <m:e>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𝑥</m:t>
                        </m:r>
                      </m:e>
                      <m: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3</m:t>
                        </m:r>
                      </m:sub>
                    </m:s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m:t>
                    </m:r>
                    <m:sSub>
                      <m:sSubPr>
                        <m:ctrlP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ctrlPr>
                      </m:sSubPr>
                      <m:e>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𝑥</m:t>
                        </m:r>
                      </m:e>
                      <m: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𝑖</m:t>
                        </m:r>
                      </m:sub>
                    </m:sSub>
                    <m:r>
                      <a:rPr kumimoji="0" lang="en-US" altLang="zh-CN" sz="1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 </m:t>
                    </m:r>
                  </m:oMath>
                </a14:m>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构建 因变量 </a:t>
                </a:r>
                <a14:m>
                  <m:oMath xmlns:m="http://schemas.openxmlformats.org/officeDocument/2006/math">
                    <m:r>
                      <m:rPr>
                        <m:sty m:val="p"/>
                      </m:rPr>
                      <a:rPr kumimoji="0" lang="en-US" altLang="zh-CN" sz="1800" b="0" i="1" u="none" strike="noStrike" kern="1200" cap="none" spc="0" normalizeH="0" baseline="0" noProof="0" dirty="0">
                        <a:ln>
                          <a:noFill/>
                        </a:ln>
                        <a:solidFill>
                          <a:srgbClr val="003366"/>
                        </a:solidFill>
                        <a:effectLst/>
                        <a:uLnTx/>
                        <a:uFillTx/>
                        <a:latin typeface="Cambria Math" panose="02040503050406030204" pitchFamily="18" charset="0"/>
                        <a:ea typeface="+mn-ea"/>
                        <a:cs typeface="+mn-cs"/>
                      </a:rPr>
                      <m:t>y</m:t>
                    </m:r>
                    <m:r>
                      <a:rPr kumimoji="0" lang="en-US" altLang="zh-CN" sz="1800" b="0" i="1" u="none" strike="noStrike" kern="1200" cap="none" spc="0" normalizeH="0" baseline="0" noProof="0" dirty="0" smtClean="0">
                        <a:ln>
                          <a:noFill/>
                        </a:ln>
                        <a:solidFill>
                          <a:srgbClr val="003366"/>
                        </a:solidFill>
                        <a:effectLst/>
                        <a:uLnTx/>
                        <a:uFillTx/>
                        <a:latin typeface="Cambria Math" panose="02040503050406030204" pitchFamily="18" charset="0"/>
                        <a:ea typeface="+mn-ea"/>
                        <a:cs typeface="+mn-cs"/>
                      </a:rPr>
                      <m:t> </m:t>
                    </m:r>
                  </m:oMath>
                </a14:m>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与多个自变量的线性关系即为多元线性分析。</a:t>
                </a:r>
              </a:p>
            </p:txBody>
          </p:sp>
        </mc:Choice>
        <mc:Fallback xmlns="">
          <p:sp>
            <p:nvSpPr>
              <p:cNvPr id="5" name="文本框 4">
                <a:extLst>
                  <a:ext uri="{FF2B5EF4-FFF2-40B4-BE49-F238E27FC236}">
                    <a16:creationId xmlns:a16="http://schemas.microsoft.com/office/drawing/2014/main" id="{9121408D-FCD5-4E23-9DB9-D0AF107A4674}"/>
                  </a:ext>
                </a:extLst>
              </p:cNvPr>
              <p:cNvSpPr txBox="1">
                <a:spLocks noRot="1" noChangeAspect="1" noMove="1" noResize="1" noEditPoints="1" noAdjustHandles="1" noChangeArrowheads="1" noChangeShapeType="1" noTextEdit="1"/>
              </p:cNvSpPr>
              <p:nvPr/>
            </p:nvSpPr>
            <p:spPr>
              <a:xfrm>
                <a:off x="1111623" y="2061882"/>
                <a:ext cx="7246027" cy="873957"/>
              </a:xfrm>
              <a:prstGeom prst="rect">
                <a:avLst/>
              </a:prstGeom>
              <a:blipFill>
                <a:blip r:embed="rId3"/>
                <a:stretch>
                  <a:fillRect l="-673" b="-97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18A7961-D7F3-4DB0-A7CC-DB62C2B1066D}"/>
                  </a:ext>
                </a:extLst>
              </p:cNvPr>
              <p:cNvSpPr txBox="1"/>
              <p:nvPr/>
            </p:nvSpPr>
            <p:spPr>
              <a:xfrm>
                <a:off x="3173505" y="3422921"/>
                <a:ext cx="2252733"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𝑦</m:t>
                      </m:r>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m:t>
                      </m:r>
                      <m:sSup>
                        <m:sSupPr>
                          <m:ctrlP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ctrlPr>
                        </m:sSupPr>
                        <m:e>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𝑤</m:t>
                          </m:r>
                        </m:e>
                        <m:sup>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𝑇</m:t>
                          </m:r>
                        </m:sup>
                      </m:sSup>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 </m:t>
                      </m:r>
                      <m:sSub>
                        <m:sSubPr>
                          <m:ctrlP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ctrlPr>
                        </m:sSubPr>
                        <m:e>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𝑥</m:t>
                          </m:r>
                        </m:e>
                        <m:sub>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𝑖</m:t>
                          </m:r>
                        </m:sub>
                      </m:sSub>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m:t>
                      </m:r>
                      <m:r>
                        <a:rPr kumimoji="0" lang="en-US" altLang="zh-CN" sz="2800" b="0" i="1" u="none" strike="noStrike" kern="1200" cap="none" spc="0" normalizeH="0" baseline="0" noProof="0" smtClean="0">
                          <a:ln>
                            <a:noFill/>
                          </a:ln>
                          <a:solidFill>
                            <a:srgbClr val="003366"/>
                          </a:solidFill>
                          <a:effectLst/>
                          <a:uLnTx/>
                          <a:uFillTx/>
                          <a:latin typeface="Cambria Math" panose="02040503050406030204" pitchFamily="18" charset="0"/>
                          <a:ea typeface="+mn-ea"/>
                          <a:cs typeface="+mn-cs"/>
                        </a:rPr>
                        <m:t>𝑏</m:t>
                      </m:r>
                    </m:oMath>
                  </m:oMathPara>
                </a14:m>
                <a:endParaRPr kumimoji="0" lang="zh-CN" altLang="en-US" sz="2800" b="0" i="0" u="none" strike="noStrike" kern="1200" cap="none" spc="0" normalizeH="0" baseline="0" noProof="0" dirty="0">
                  <a:ln>
                    <a:noFill/>
                  </a:ln>
                  <a:solidFill>
                    <a:srgbClr val="003366"/>
                  </a:solidFill>
                  <a:effectLst/>
                  <a:uLnTx/>
                  <a:uFillTx/>
                  <a:latin typeface="Arial"/>
                  <a:ea typeface="+mn-ea"/>
                  <a:cs typeface="+mn-cs"/>
                </a:endParaRPr>
              </a:p>
            </p:txBody>
          </p:sp>
        </mc:Choice>
        <mc:Fallback xmlns="">
          <p:sp>
            <p:nvSpPr>
              <p:cNvPr id="6" name="文本框 5">
                <a:extLst>
                  <a:ext uri="{FF2B5EF4-FFF2-40B4-BE49-F238E27FC236}">
                    <a16:creationId xmlns:a16="http://schemas.microsoft.com/office/drawing/2014/main" id="{718A7961-D7F3-4DB0-A7CC-DB62C2B1066D}"/>
                  </a:ext>
                </a:extLst>
              </p:cNvPr>
              <p:cNvSpPr txBox="1">
                <a:spLocks noRot="1" noChangeAspect="1" noMove="1" noResize="1" noEditPoints="1" noAdjustHandles="1" noChangeArrowheads="1" noChangeShapeType="1" noTextEdit="1"/>
              </p:cNvSpPr>
              <p:nvPr/>
            </p:nvSpPr>
            <p:spPr>
              <a:xfrm>
                <a:off x="3173505" y="3422921"/>
                <a:ext cx="2252733" cy="430887"/>
              </a:xfrm>
              <a:prstGeom prst="rect">
                <a:avLst/>
              </a:prstGeom>
              <a:blipFill>
                <a:blip r:embed="rId4"/>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FC67531E-FC36-4072-8D0B-D4F6B07EBED3}"/>
              </a:ext>
            </a:extLst>
          </p:cNvPr>
          <p:cNvSpPr txBox="1"/>
          <p:nvPr/>
        </p:nvSpPr>
        <p:spPr>
          <a:xfrm>
            <a:off x="1183340" y="4064581"/>
            <a:ext cx="7246027" cy="45653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其中 </a:t>
            </a:r>
            <a:r>
              <a:rPr kumimoji="0" lang="en-US" altLang="zh-CN" sz="1800" b="0" i="0" u="none" strike="noStrike" kern="1200" cap="none" spc="0" normalizeH="0" baseline="0" noProof="0" dirty="0">
                <a:ln>
                  <a:noFill/>
                </a:ln>
                <a:solidFill>
                  <a:srgbClr val="003366"/>
                </a:solidFill>
                <a:effectLst/>
                <a:uLnTx/>
                <a:uFillTx/>
                <a:latin typeface="Arial"/>
                <a:ea typeface="+mn-ea"/>
                <a:cs typeface="+mn-cs"/>
              </a:rPr>
              <a:t>w </a:t>
            </a:r>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为系数矩阵，</a:t>
            </a:r>
            <a:r>
              <a:rPr kumimoji="0" lang="en-US" altLang="zh-CN" sz="1800" b="0" i="0" u="none" strike="noStrike" kern="1200" cap="none" spc="0" normalizeH="0" baseline="0" noProof="0" dirty="0">
                <a:ln>
                  <a:noFill/>
                </a:ln>
                <a:solidFill>
                  <a:srgbClr val="003366"/>
                </a:solidFill>
                <a:effectLst/>
                <a:uLnTx/>
                <a:uFillTx/>
                <a:latin typeface="Arial"/>
                <a:ea typeface="+mn-ea"/>
                <a:cs typeface="+mn-cs"/>
              </a:rPr>
              <a:t>b </a:t>
            </a:r>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为偏置。</a:t>
            </a:r>
          </a:p>
        </p:txBody>
      </p:sp>
    </p:spTree>
    <p:extLst>
      <p:ext uri="{BB962C8B-B14F-4D97-AF65-F5344CB8AC3E}">
        <p14:creationId xmlns:p14="http://schemas.microsoft.com/office/powerpoint/2010/main" val="68669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导入数据集</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10" name="文本框 9">
            <a:extLst>
              <a:ext uri="{FF2B5EF4-FFF2-40B4-BE49-F238E27FC236}">
                <a16:creationId xmlns:a16="http://schemas.microsoft.com/office/drawing/2014/main" id="{FC67531E-FC36-4072-8D0B-D4F6B07EBED3}"/>
              </a:ext>
            </a:extLst>
          </p:cNvPr>
          <p:cNvSpPr txBox="1"/>
          <p:nvPr/>
        </p:nvSpPr>
        <p:spPr>
          <a:xfrm>
            <a:off x="948986" y="4506936"/>
            <a:ext cx="7692990" cy="115640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3366"/>
                </a:solidFill>
                <a:effectLst/>
                <a:uLnTx/>
                <a:uFillTx/>
                <a:latin typeface="Arial"/>
                <a:ea typeface="+mn-ea"/>
                <a:cs typeface="+mn-cs"/>
              </a:rPr>
              <a:t>参考：</a:t>
            </a:r>
            <a:endParaRPr kumimoji="0" lang="en-US" altLang="zh-CN" sz="1600" b="1" i="0" u="none" strike="noStrike" kern="1200" cap="none" spc="0" normalizeH="0" baseline="0" noProof="0" dirty="0">
              <a:ln>
                <a:noFill/>
              </a:ln>
              <a:solidFill>
                <a:srgbClr val="003366"/>
              </a:solidFill>
              <a:effectLst/>
              <a:uLnTx/>
              <a:uFillTx/>
              <a:latin typeface="Arial"/>
              <a:ea typeface="+mn-ea"/>
              <a:cs typeface="+mn-cs"/>
              <a:hlinkClick r:id="rId3"/>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3366"/>
                </a:solidFill>
                <a:effectLst/>
                <a:uLnTx/>
                <a:uFillTx/>
                <a:latin typeface="Arial"/>
                <a:ea typeface="+mn-ea"/>
                <a:cs typeface="+mn-cs"/>
              </a:rPr>
              <a:t>数据集加载：</a:t>
            </a:r>
            <a:r>
              <a:rPr kumimoji="0" lang="en-US" altLang="zh-CN" sz="1600" b="0" i="0" u="none" strike="noStrike" kern="1200" cap="none" spc="0" normalizeH="0" baseline="0" noProof="0" dirty="0" err="1">
                <a:ln>
                  <a:noFill/>
                </a:ln>
                <a:solidFill>
                  <a:srgbClr val="003366"/>
                </a:solidFill>
                <a:effectLst/>
                <a:uLnTx/>
                <a:uFillTx/>
                <a:latin typeface="Arial"/>
                <a:ea typeface="+mn-ea"/>
                <a:cs typeface="+mn-cs"/>
                <a:hlinkClick r:id="rId3"/>
              </a:rPr>
              <a:t>sklearn.datasets.load_boston</a:t>
            </a:r>
            <a:r>
              <a:rPr kumimoji="0" lang="en-US" altLang="zh-CN" sz="1600" b="0" i="0" u="none" strike="noStrike" kern="1200" cap="none" spc="0" normalizeH="0" baseline="0" noProof="0" dirty="0">
                <a:ln>
                  <a:noFill/>
                </a:ln>
                <a:solidFill>
                  <a:srgbClr val="003366"/>
                </a:solidFill>
                <a:effectLst/>
                <a:uLnTx/>
                <a:uFillTx/>
                <a:latin typeface="Arial"/>
                <a:ea typeface="+mn-ea"/>
                <a:cs typeface="+mn-cs"/>
                <a:hlinkClick r:id="rId3"/>
              </a:rPr>
              <a:t> — scikit-learn 1.0.1 documentation</a:t>
            </a:r>
            <a:endParaRPr kumimoji="0" lang="en-US" altLang="zh-CN" sz="1600" b="0" i="0" u="none" strike="noStrike" kern="1200" cap="none" spc="0" normalizeH="0" baseline="0" noProof="0" dirty="0">
              <a:ln>
                <a:noFill/>
              </a:ln>
              <a:solidFill>
                <a:srgbClr val="003366"/>
              </a:solidFill>
              <a:effectLst/>
              <a:uLnTx/>
              <a:uFillTx/>
              <a:latin typeface="Arial"/>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dirty="0">
                <a:ln>
                  <a:noFill/>
                </a:ln>
                <a:solidFill>
                  <a:srgbClr val="003366"/>
                </a:solidFill>
                <a:effectLst/>
                <a:uLnTx/>
                <a:uFillTx/>
                <a:latin typeface="Arial"/>
                <a:ea typeface="+mn-ea"/>
                <a:cs typeface="+mn-cs"/>
              </a:rPr>
              <a:t>Matplotlib</a:t>
            </a:r>
            <a:r>
              <a:rPr kumimoji="0" lang="zh-CN" altLang="en-US" sz="1600" b="0" i="0" u="none" strike="noStrike" kern="1200" cap="none" spc="0" normalizeH="0" baseline="0" noProof="0" dirty="0">
                <a:ln>
                  <a:noFill/>
                </a:ln>
                <a:solidFill>
                  <a:srgbClr val="003366"/>
                </a:solidFill>
                <a:effectLst/>
                <a:uLnTx/>
                <a:uFillTx/>
                <a:latin typeface="Arial"/>
                <a:ea typeface="+mn-ea"/>
                <a:cs typeface="+mn-cs"/>
              </a:rPr>
              <a:t>绘图包：</a:t>
            </a:r>
            <a:r>
              <a:rPr kumimoji="0" lang="en-US" altLang="zh-CN" sz="1600" b="0" i="0" u="none" strike="noStrike" kern="1200" cap="none" spc="0" normalizeH="0" baseline="0" noProof="0" dirty="0">
                <a:ln>
                  <a:noFill/>
                </a:ln>
                <a:solidFill>
                  <a:srgbClr val="003366"/>
                </a:solidFill>
                <a:effectLst/>
                <a:uLnTx/>
                <a:uFillTx/>
                <a:latin typeface="Arial"/>
                <a:ea typeface="+mn-ea"/>
                <a:cs typeface="+mn-cs"/>
                <a:hlinkClick r:id="rId4"/>
              </a:rPr>
              <a:t>Overview — Matplotlib 3.4.3 documentation</a:t>
            </a:r>
            <a:endParaRPr kumimoji="0" lang="zh-CN" altLang="en-US" sz="1600" b="0" i="0" u="none" strike="noStrike" kern="1200" cap="none" spc="0" normalizeH="0" baseline="0" noProof="0" dirty="0">
              <a:ln>
                <a:noFill/>
              </a:ln>
              <a:solidFill>
                <a:srgbClr val="003366"/>
              </a:solidFill>
              <a:effectLst/>
              <a:uLnTx/>
              <a:uFillTx/>
              <a:latin typeface="Arial"/>
              <a:ea typeface="+mn-ea"/>
              <a:cs typeface="+mn-cs"/>
            </a:endParaRPr>
          </a:p>
        </p:txBody>
      </p:sp>
      <p:pic>
        <p:nvPicPr>
          <p:cNvPr id="11" name="图片 10">
            <a:extLst>
              <a:ext uri="{FF2B5EF4-FFF2-40B4-BE49-F238E27FC236}">
                <a16:creationId xmlns:a16="http://schemas.microsoft.com/office/drawing/2014/main" id="{66E81890-D594-4270-AB9C-DB804589ED29}"/>
              </a:ext>
            </a:extLst>
          </p:cNvPr>
          <p:cNvPicPr>
            <a:picLocks noChangeAspect="1"/>
          </p:cNvPicPr>
          <p:nvPr/>
        </p:nvPicPr>
        <p:blipFill>
          <a:blip r:embed="rId5"/>
          <a:stretch>
            <a:fillRect/>
          </a:stretch>
        </p:blipFill>
        <p:spPr>
          <a:xfrm>
            <a:off x="1016846" y="1928629"/>
            <a:ext cx="4618120" cy="2415749"/>
          </a:xfrm>
          <a:prstGeom prst="rect">
            <a:avLst/>
          </a:prstGeom>
        </p:spPr>
      </p:pic>
    </p:spTree>
    <p:extLst>
      <p:ext uri="{BB962C8B-B14F-4D97-AF65-F5344CB8AC3E}">
        <p14:creationId xmlns:p14="http://schemas.microsoft.com/office/powerpoint/2010/main" val="2804813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可视化数据</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pic>
        <p:nvPicPr>
          <p:cNvPr id="8" name="图片 7">
            <a:extLst>
              <a:ext uri="{FF2B5EF4-FFF2-40B4-BE49-F238E27FC236}">
                <a16:creationId xmlns:a16="http://schemas.microsoft.com/office/drawing/2014/main" id="{28FA997E-A335-4C93-B9F2-5B8573EBDE53}"/>
              </a:ext>
            </a:extLst>
          </p:cNvPr>
          <p:cNvPicPr>
            <a:picLocks noChangeAspect="1"/>
          </p:cNvPicPr>
          <p:nvPr/>
        </p:nvPicPr>
        <p:blipFill>
          <a:blip r:embed="rId3"/>
          <a:stretch>
            <a:fillRect/>
          </a:stretch>
        </p:blipFill>
        <p:spPr>
          <a:xfrm>
            <a:off x="1051255" y="3561298"/>
            <a:ext cx="3741744" cy="2530059"/>
          </a:xfrm>
          <a:prstGeom prst="rect">
            <a:avLst/>
          </a:prstGeom>
        </p:spPr>
      </p:pic>
      <p:pic>
        <p:nvPicPr>
          <p:cNvPr id="12" name="图片 11">
            <a:extLst>
              <a:ext uri="{FF2B5EF4-FFF2-40B4-BE49-F238E27FC236}">
                <a16:creationId xmlns:a16="http://schemas.microsoft.com/office/drawing/2014/main" id="{8338330B-F031-4718-B11E-8A3DF41ECC71}"/>
              </a:ext>
            </a:extLst>
          </p:cNvPr>
          <p:cNvPicPr>
            <a:picLocks noChangeAspect="1"/>
          </p:cNvPicPr>
          <p:nvPr/>
        </p:nvPicPr>
        <p:blipFill>
          <a:blip r:embed="rId4"/>
          <a:stretch>
            <a:fillRect/>
          </a:stretch>
        </p:blipFill>
        <p:spPr>
          <a:xfrm>
            <a:off x="4572000" y="3564432"/>
            <a:ext cx="3985605" cy="2598645"/>
          </a:xfrm>
          <a:prstGeom prst="rect">
            <a:avLst/>
          </a:prstGeom>
        </p:spPr>
      </p:pic>
      <p:pic>
        <p:nvPicPr>
          <p:cNvPr id="14" name="图片 13">
            <a:extLst>
              <a:ext uri="{FF2B5EF4-FFF2-40B4-BE49-F238E27FC236}">
                <a16:creationId xmlns:a16="http://schemas.microsoft.com/office/drawing/2014/main" id="{B683F16C-EAFF-435A-82A8-DD9BBD0D3D8A}"/>
              </a:ext>
            </a:extLst>
          </p:cNvPr>
          <p:cNvPicPr>
            <a:picLocks noChangeAspect="1"/>
          </p:cNvPicPr>
          <p:nvPr/>
        </p:nvPicPr>
        <p:blipFill>
          <a:blip r:embed="rId5"/>
          <a:stretch>
            <a:fillRect/>
          </a:stretch>
        </p:blipFill>
        <p:spPr>
          <a:xfrm>
            <a:off x="1241771" y="1959393"/>
            <a:ext cx="3360711" cy="1066892"/>
          </a:xfrm>
          <a:prstGeom prst="rect">
            <a:avLst/>
          </a:prstGeom>
        </p:spPr>
      </p:pic>
    </p:spTree>
    <p:extLst>
      <p:ext uri="{BB962C8B-B14F-4D97-AF65-F5344CB8AC3E}">
        <p14:creationId xmlns:p14="http://schemas.microsoft.com/office/powerpoint/2010/main" val="375080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特征选择与数据预处理</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3" name="文本框 2">
            <a:extLst>
              <a:ext uri="{FF2B5EF4-FFF2-40B4-BE49-F238E27FC236}">
                <a16:creationId xmlns:a16="http://schemas.microsoft.com/office/drawing/2014/main" id="{14502750-F17B-4130-8786-079644045760}"/>
              </a:ext>
            </a:extLst>
          </p:cNvPr>
          <p:cNvSpPr txBox="1"/>
          <p:nvPr/>
        </p:nvSpPr>
        <p:spPr>
          <a:xfrm>
            <a:off x="916945" y="1926324"/>
            <a:ext cx="7440706" cy="1197123"/>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3366"/>
                </a:solidFill>
                <a:effectLst/>
                <a:uLnTx/>
                <a:uFillTx/>
                <a:latin typeface="Arial"/>
                <a:ea typeface="+mn-ea"/>
                <a:cs typeface="+mn-cs"/>
              </a:rPr>
              <a:t>从上面的特征可视化中，我们可以看到只有几个特征与房价关系有明显的线性关系，所以我们只选择这几个特征建立回归模型。</a:t>
            </a:r>
            <a:endParaRPr kumimoji="0" lang="en-US" altLang="zh-CN" sz="1600" b="0" i="0" u="none" strike="noStrike" kern="1200" cap="none" spc="0" normalizeH="0" baseline="0" noProof="0" dirty="0">
              <a:ln>
                <a:noFill/>
              </a:ln>
              <a:solidFill>
                <a:srgbClr val="003366"/>
              </a:solidFill>
              <a:effectLst/>
              <a:uLnTx/>
              <a:uFillTx/>
              <a:latin typeface="Arial"/>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3366"/>
                </a:solidFill>
                <a:effectLst/>
                <a:uLnTx/>
                <a:uFillTx/>
                <a:latin typeface="Arial"/>
                <a:ea typeface="+mn-ea"/>
                <a:cs typeface="+mn-cs"/>
              </a:rPr>
              <a:t>对数据进行归一化，使得经过处理的数据符合标准正态分布。</a:t>
            </a:r>
            <a:endParaRPr kumimoji="0" lang="en-US" altLang="zh-CN" sz="1600" b="0" i="0" u="none" strike="noStrike" kern="1200" cap="none" spc="0" normalizeH="0" baseline="0" noProof="0" dirty="0">
              <a:ln>
                <a:noFill/>
              </a:ln>
              <a:solidFill>
                <a:srgbClr val="003366"/>
              </a:solidFill>
              <a:effectLst/>
              <a:uLnTx/>
              <a:uFillTx/>
              <a:latin typeface="Arial"/>
              <a:ea typeface="+mn-ea"/>
              <a:cs typeface="+mn-cs"/>
            </a:endParaRPr>
          </a:p>
        </p:txBody>
      </p:sp>
      <p:pic>
        <p:nvPicPr>
          <p:cNvPr id="7" name="图片 6">
            <a:extLst>
              <a:ext uri="{FF2B5EF4-FFF2-40B4-BE49-F238E27FC236}">
                <a16:creationId xmlns:a16="http://schemas.microsoft.com/office/drawing/2014/main" id="{37A75C1A-4986-4C2D-B490-FE0828C3792A}"/>
              </a:ext>
            </a:extLst>
          </p:cNvPr>
          <p:cNvPicPr>
            <a:picLocks noChangeAspect="1"/>
          </p:cNvPicPr>
          <p:nvPr/>
        </p:nvPicPr>
        <p:blipFill rotWithShape="1">
          <a:blip r:embed="rId3">
            <a:extLst>
              <a:ext uri="{28A0092B-C50C-407E-A947-70E740481C1C}">
                <a14:useLocalDpi xmlns:a14="http://schemas.microsoft.com/office/drawing/2010/main" val="0"/>
              </a:ext>
            </a:extLst>
          </a:blip>
          <a:srcRect t="4133"/>
          <a:stretch/>
        </p:blipFill>
        <p:spPr>
          <a:xfrm>
            <a:off x="1941885" y="3106825"/>
            <a:ext cx="4586513" cy="2638166"/>
          </a:xfrm>
          <a:prstGeom prst="rect">
            <a:avLst/>
          </a:prstGeom>
        </p:spPr>
      </p:pic>
      <p:sp>
        <p:nvSpPr>
          <p:cNvPr id="15" name="文本框 14">
            <a:extLst>
              <a:ext uri="{FF2B5EF4-FFF2-40B4-BE49-F238E27FC236}">
                <a16:creationId xmlns:a16="http://schemas.microsoft.com/office/drawing/2014/main" id="{A2E681CD-2CCE-41A8-B1C6-AA9FA7739079}"/>
              </a:ext>
            </a:extLst>
          </p:cNvPr>
          <p:cNvSpPr txBox="1"/>
          <p:nvPr/>
        </p:nvSpPr>
        <p:spPr>
          <a:xfrm>
            <a:off x="498217" y="5305336"/>
            <a:ext cx="8419126" cy="115640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3366"/>
                </a:solidFill>
                <a:effectLst/>
                <a:uLnTx/>
                <a:uFillTx/>
                <a:latin typeface="Arial"/>
                <a:ea typeface="+mn-ea"/>
                <a:cs typeface="+mn-cs"/>
              </a:rPr>
              <a:t>参考：</a:t>
            </a:r>
            <a:endParaRPr kumimoji="0" lang="en-US" altLang="zh-CN" sz="1600" b="1" i="0" u="none" strike="noStrike" kern="1200" cap="none" spc="0" normalizeH="0" baseline="0" noProof="0" dirty="0">
              <a:ln>
                <a:noFill/>
              </a:ln>
              <a:solidFill>
                <a:srgbClr val="003366"/>
              </a:solidFill>
              <a:effectLst/>
              <a:uLnTx/>
              <a:uFillTx/>
              <a:latin typeface="Arial"/>
              <a:ea typeface="+mn-ea"/>
              <a:cs typeface="+mn-cs"/>
              <a:hlinkClick r:id="rId4"/>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3366"/>
                </a:solidFill>
                <a:effectLst/>
                <a:uLnTx/>
                <a:uFillTx/>
                <a:latin typeface="Arial"/>
                <a:ea typeface="+mn-ea"/>
                <a:cs typeface="+mn-cs"/>
              </a:rPr>
              <a:t>归一化：</a:t>
            </a:r>
            <a:r>
              <a:rPr kumimoji="0" lang="en-US" altLang="zh-CN" sz="1600" b="0" i="0" u="none" strike="noStrike" kern="1200" cap="none" spc="0" normalizeH="0" baseline="0" noProof="0" dirty="0" err="1">
                <a:ln>
                  <a:noFill/>
                </a:ln>
                <a:solidFill>
                  <a:srgbClr val="003366"/>
                </a:solidFill>
                <a:effectLst/>
                <a:uLnTx/>
                <a:uFillTx/>
                <a:latin typeface="Arial"/>
                <a:ea typeface="+mn-ea"/>
                <a:cs typeface="+mn-cs"/>
                <a:hlinkClick r:id="rId5"/>
              </a:rPr>
              <a:t>sklearn.preprocessing.StandardScaler</a:t>
            </a:r>
            <a:r>
              <a:rPr kumimoji="0" lang="en-US" altLang="zh-CN" sz="1600" b="0" i="0" u="none" strike="noStrike" kern="1200" cap="none" spc="0" normalizeH="0" baseline="0" noProof="0" dirty="0">
                <a:ln>
                  <a:noFill/>
                </a:ln>
                <a:solidFill>
                  <a:srgbClr val="003366"/>
                </a:solidFill>
                <a:effectLst/>
                <a:uLnTx/>
                <a:uFillTx/>
                <a:latin typeface="Arial"/>
                <a:ea typeface="+mn-ea"/>
                <a:cs typeface="+mn-cs"/>
                <a:hlinkClick r:id="rId5"/>
              </a:rPr>
              <a:t> — scikit-learn 1.0.1 documentation</a:t>
            </a:r>
            <a:endParaRPr kumimoji="0" lang="en-US" altLang="zh-CN" sz="1600" b="0" i="0" u="none" strike="noStrike" kern="1200" cap="none" spc="0" normalizeH="0" baseline="0" noProof="0" dirty="0">
              <a:ln>
                <a:noFill/>
              </a:ln>
              <a:solidFill>
                <a:srgbClr val="003366"/>
              </a:solidFill>
              <a:effectLst/>
              <a:uLnTx/>
              <a:uFillTx/>
              <a:latin typeface="Arial"/>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3366"/>
                </a:solidFill>
                <a:effectLst/>
                <a:uLnTx/>
                <a:uFillTx/>
                <a:latin typeface="Arial"/>
                <a:ea typeface="+mn-ea"/>
                <a:cs typeface="+mn-cs"/>
              </a:rPr>
              <a:t>特征选择：</a:t>
            </a:r>
            <a:r>
              <a:rPr kumimoji="0" lang="en-US" altLang="zh-CN" sz="1600" b="0" i="0" u="none" strike="noStrike" kern="1200" cap="none" spc="0" normalizeH="0" baseline="0" noProof="0" dirty="0">
                <a:ln>
                  <a:noFill/>
                </a:ln>
                <a:solidFill>
                  <a:srgbClr val="003366"/>
                </a:solidFill>
                <a:effectLst/>
                <a:uLnTx/>
                <a:uFillTx/>
                <a:latin typeface="Arial"/>
                <a:ea typeface="+mn-ea"/>
                <a:cs typeface="+mn-cs"/>
                <a:hlinkClick r:id="rId6"/>
              </a:rPr>
              <a:t>API Reference — scikit-learn 1.0.1 documentation</a:t>
            </a:r>
            <a:endParaRPr kumimoji="0" lang="zh-CN" altLang="en-US" sz="1600" b="0" i="0" u="none" strike="noStrike" kern="1200" cap="none" spc="0" normalizeH="0" baseline="0" noProof="0" dirty="0">
              <a:ln>
                <a:noFill/>
              </a:ln>
              <a:solidFill>
                <a:srgbClr val="003366"/>
              </a:solidFill>
              <a:effectLst/>
              <a:uLnTx/>
              <a:uFillTx/>
              <a:latin typeface="Arial"/>
              <a:ea typeface="+mn-ea"/>
              <a:cs typeface="+mn-cs"/>
            </a:endParaRPr>
          </a:p>
        </p:txBody>
      </p:sp>
    </p:spTree>
    <p:extLst>
      <p:ext uri="{BB962C8B-B14F-4D97-AF65-F5344CB8AC3E}">
        <p14:creationId xmlns:p14="http://schemas.microsoft.com/office/powerpoint/2010/main" val="814267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切分数据集与训练模型</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3" name="文本框 2">
            <a:extLst>
              <a:ext uri="{FF2B5EF4-FFF2-40B4-BE49-F238E27FC236}">
                <a16:creationId xmlns:a16="http://schemas.microsoft.com/office/drawing/2014/main" id="{14502750-F17B-4130-8786-079644045760}"/>
              </a:ext>
            </a:extLst>
          </p:cNvPr>
          <p:cNvSpPr txBox="1"/>
          <p:nvPr/>
        </p:nvSpPr>
        <p:spPr>
          <a:xfrm>
            <a:off x="1021976" y="1893327"/>
            <a:ext cx="7440706" cy="456535"/>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我们在这里选择最简单的线性回归模型。</a:t>
            </a:r>
            <a:endParaRPr kumimoji="0" lang="en-US" altLang="zh-CN" sz="1800" b="0" i="0" u="none" strike="noStrike" kern="1200" cap="none" spc="0" normalizeH="0" baseline="0" noProof="0" dirty="0">
              <a:ln>
                <a:noFill/>
              </a:ln>
              <a:solidFill>
                <a:srgbClr val="003366"/>
              </a:solidFill>
              <a:effectLst/>
              <a:uLnTx/>
              <a:uFillTx/>
              <a:latin typeface="Arial"/>
              <a:ea typeface="+mn-ea"/>
              <a:cs typeface="+mn-cs"/>
            </a:endParaRPr>
          </a:p>
        </p:txBody>
      </p:sp>
      <p:sp>
        <p:nvSpPr>
          <p:cNvPr id="10" name="文本框 9">
            <a:extLst>
              <a:ext uri="{FF2B5EF4-FFF2-40B4-BE49-F238E27FC236}">
                <a16:creationId xmlns:a16="http://schemas.microsoft.com/office/drawing/2014/main" id="{4F5558E0-2758-46F1-9FA7-40EE55689D71}"/>
              </a:ext>
            </a:extLst>
          </p:cNvPr>
          <p:cNvSpPr txBox="1"/>
          <p:nvPr/>
        </p:nvSpPr>
        <p:spPr>
          <a:xfrm>
            <a:off x="532766" y="5570278"/>
            <a:ext cx="8419126" cy="787075"/>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3366"/>
                </a:solidFill>
                <a:effectLst/>
                <a:uLnTx/>
                <a:uFillTx/>
                <a:latin typeface="Arial"/>
                <a:ea typeface="+mn-ea"/>
                <a:cs typeface="+mn-cs"/>
              </a:rPr>
              <a:t>参考：</a:t>
            </a:r>
            <a:endParaRPr kumimoji="0" lang="en-US" altLang="zh-CN" sz="1600" b="1" i="0" u="none" strike="noStrike" kern="1200" cap="none" spc="0" normalizeH="0" baseline="0" noProof="0" dirty="0">
              <a:ln>
                <a:noFill/>
              </a:ln>
              <a:solidFill>
                <a:srgbClr val="003366"/>
              </a:solidFill>
              <a:effectLst/>
              <a:uLnTx/>
              <a:uFillTx/>
              <a:latin typeface="Arial"/>
              <a:ea typeface="+mn-ea"/>
              <a:cs typeface="+mn-cs"/>
              <a:hlinkClick r:id="rId3"/>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003366"/>
                </a:solidFill>
                <a:effectLst/>
                <a:uLnTx/>
                <a:uFillTx/>
                <a:latin typeface="Arial"/>
                <a:ea typeface="+mn-ea"/>
                <a:cs typeface="+mn-cs"/>
              </a:rPr>
              <a:t>线性回归：</a:t>
            </a:r>
            <a:r>
              <a:rPr kumimoji="0" lang="en-US" altLang="zh-CN" sz="1600" b="0" i="0" u="none" strike="noStrike" kern="1200" cap="none" spc="0" normalizeH="0" baseline="0" noProof="0" dirty="0" err="1">
                <a:ln>
                  <a:noFill/>
                </a:ln>
                <a:solidFill>
                  <a:srgbClr val="003366"/>
                </a:solidFill>
                <a:effectLst/>
                <a:uLnTx/>
                <a:uFillTx/>
                <a:latin typeface="Arial"/>
                <a:ea typeface="+mn-ea"/>
                <a:cs typeface="+mn-cs"/>
                <a:hlinkClick r:id="rId4"/>
              </a:rPr>
              <a:t>sklearn.linear_model.LinearRegression</a:t>
            </a:r>
            <a:r>
              <a:rPr kumimoji="0" lang="en-US" altLang="zh-CN" sz="1600" b="0" i="0" u="none" strike="noStrike" kern="1200" cap="none" spc="0" normalizeH="0" baseline="0" noProof="0" dirty="0">
                <a:ln>
                  <a:noFill/>
                </a:ln>
                <a:solidFill>
                  <a:srgbClr val="003366"/>
                </a:solidFill>
                <a:effectLst/>
                <a:uLnTx/>
                <a:uFillTx/>
                <a:latin typeface="Arial"/>
                <a:ea typeface="+mn-ea"/>
                <a:cs typeface="+mn-cs"/>
                <a:hlinkClick r:id="rId4"/>
              </a:rPr>
              <a:t> — scikit-learn 1.0.1 documentation</a:t>
            </a:r>
            <a:endParaRPr kumimoji="0" lang="en-US" altLang="zh-CN" sz="1600" b="0" i="0" u="none" strike="noStrike" kern="1200" cap="none" spc="0" normalizeH="0" baseline="0" noProof="0" dirty="0">
              <a:ln>
                <a:noFill/>
              </a:ln>
              <a:solidFill>
                <a:srgbClr val="003366"/>
              </a:solidFill>
              <a:effectLst/>
              <a:uLnTx/>
              <a:uFillTx/>
              <a:latin typeface="Arial"/>
              <a:ea typeface="+mn-ea"/>
              <a:cs typeface="+mn-cs"/>
            </a:endParaRPr>
          </a:p>
        </p:txBody>
      </p:sp>
      <p:pic>
        <p:nvPicPr>
          <p:cNvPr id="6" name="图片 5">
            <a:extLst>
              <a:ext uri="{FF2B5EF4-FFF2-40B4-BE49-F238E27FC236}">
                <a16:creationId xmlns:a16="http://schemas.microsoft.com/office/drawing/2014/main" id="{C6482CC4-638B-48C8-9BBA-CFBD34C66A4A}"/>
              </a:ext>
            </a:extLst>
          </p:cNvPr>
          <p:cNvPicPr>
            <a:picLocks noChangeAspect="1"/>
          </p:cNvPicPr>
          <p:nvPr/>
        </p:nvPicPr>
        <p:blipFill rotWithShape="1">
          <a:blip r:embed="rId5"/>
          <a:srcRect b="12164"/>
          <a:stretch/>
        </p:blipFill>
        <p:spPr>
          <a:xfrm>
            <a:off x="1389063" y="2266188"/>
            <a:ext cx="5688012" cy="3636322"/>
          </a:xfrm>
          <a:prstGeom prst="rect">
            <a:avLst/>
          </a:prstGeom>
        </p:spPr>
      </p:pic>
    </p:spTree>
    <p:extLst>
      <p:ext uri="{BB962C8B-B14F-4D97-AF65-F5344CB8AC3E}">
        <p14:creationId xmlns:p14="http://schemas.microsoft.com/office/powerpoint/2010/main" val="912590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可视化结果</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3" name="文本框 2">
            <a:extLst>
              <a:ext uri="{FF2B5EF4-FFF2-40B4-BE49-F238E27FC236}">
                <a16:creationId xmlns:a16="http://schemas.microsoft.com/office/drawing/2014/main" id="{14502750-F17B-4130-8786-079644045760}"/>
              </a:ext>
            </a:extLst>
          </p:cNvPr>
          <p:cNvSpPr txBox="1"/>
          <p:nvPr/>
        </p:nvSpPr>
        <p:spPr>
          <a:xfrm>
            <a:off x="1021976" y="1893327"/>
            <a:ext cx="7440706" cy="456535"/>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3366"/>
                </a:solidFill>
                <a:effectLst/>
                <a:uLnTx/>
                <a:uFillTx/>
                <a:latin typeface="Arial"/>
                <a:ea typeface="+mn-ea"/>
                <a:cs typeface="+mn-cs"/>
              </a:rPr>
              <a:t>结果如下所示</a:t>
            </a:r>
            <a:endParaRPr kumimoji="0" lang="en-US" altLang="zh-CN" sz="1800" b="0" i="0" u="none" strike="noStrike" kern="1200" cap="none" spc="0" normalizeH="0" baseline="0" noProof="0" dirty="0">
              <a:ln>
                <a:noFill/>
              </a:ln>
              <a:solidFill>
                <a:srgbClr val="003366"/>
              </a:solidFill>
              <a:effectLst/>
              <a:uLnTx/>
              <a:uFillTx/>
              <a:latin typeface="Arial"/>
              <a:ea typeface="+mn-ea"/>
              <a:cs typeface="+mn-cs"/>
            </a:endParaRPr>
          </a:p>
        </p:txBody>
      </p:sp>
      <p:pic>
        <p:nvPicPr>
          <p:cNvPr id="7" name="图片 6">
            <a:extLst>
              <a:ext uri="{FF2B5EF4-FFF2-40B4-BE49-F238E27FC236}">
                <a16:creationId xmlns:a16="http://schemas.microsoft.com/office/drawing/2014/main" id="{844AE748-FB02-4F09-8D7F-460E6635AA7D}"/>
              </a:ext>
            </a:extLst>
          </p:cNvPr>
          <p:cNvPicPr>
            <a:picLocks noChangeAspect="1"/>
          </p:cNvPicPr>
          <p:nvPr/>
        </p:nvPicPr>
        <p:blipFill rotWithShape="1">
          <a:blip r:embed="rId3"/>
          <a:srcRect t="27590" r="1211"/>
          <a:stretch/>
        </p:blipFill>
        <p:spPr>
          <a:xfrm>
            <a:off x="1572449" y="2662518"/>
            <a:ext cx="4389081" cy="2624325"/>
          </a:xfrm>
          <a:prstGeom prst="rect">
            <a:avLst/>
          </a:prstGeom>
        </p:spPr>
      </p:pic>
    </p:spTree>
    <p:extLst>
      <p:ext uri="{BB962C8B-B14F-4D97-AF65-F5344CB8AC3E}">
        <p14:creationId xmlns:p14="http://schemas.microsoft.com/office/powerpoint/2010/main" val="874339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a:ea typeface="+mn-ea"/>
                <a:cs typeface="+mn-cs"/>
              </a:rPr>
              <a:t>© 2021 BUPT DSSC             </a:t>
            </a:r>
            <a:r>
              <a:rPr kumimoji="0" lang="zh-CN" altLang="en-US" sz="1200" b="1" i="0" u="none" strike="noStrike" kern="1200" cap="none" spc="0" normalizeH="0" baseline="0" noProof="0" dirty="0">
                <a:ln>
                  <a:noFill/>
                </a:ln>
                <a:solidFill>
                  <a:srgbClr val="FFFFFF"/>
                </a:solidFill>
                <a:effectLst/>
                <a:uLnTx/>
                <a:uFillTx/>
                <a:latin typeface="Arial"/>
                <a:ea typeface="+mn-ea"/>
                <a:cs typeface="+mn-cs"/>
              </a:rPr>
              <a:t>北京邮电大学 数据科学与服务中心</a:t>
            </a:r>
          </a:p>
        </p:txBody>
      </p:sp>
      <p:sp>
        <p:nvSpPr>
          <p:cNvPr id="2" name="文本框 1"/>
          <p:cNvSpPr txBox="1"/>
          <p:nvPr/>
        </p:nvSpPr>
        <p:spPr>
          <a:xfrm>
            <a:off x="5220072" y="279158"/>
            <a:ext cx="3923928"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srgbClr val="FFFFFF"/>
                </a:solidFill>
                <a:effectLst/>
                <a:uLnTx/>
                <a:uFillTx/>
                <a:latin typeface="Arial"/>
                <a:ea typeface="+mn-ea"/>
                <a:cs typeface="+mn-cs"/>
              </a:rPr>
              <a:t>选做实验</a:t>
            </a:r>
            <a:endParaRPr kumimoji="1" lang="en-US" sz="3200" b="0" i="0" u="none" strike="noStrike" kern="1200" cap="none" spc="0" normalizeH="0" baseline="0" noProof="0" dirty="0">
              <a:ln>
                <a:noFill/>
              </a:ln>
              <a:solidFill>
                <a:srgbClr val="FFFFFF"/>
              </a:solidFill>
              <a:effectLst/>
              <a:uLnTx/>
              <a:uFillTx/>
              <a:latin typeface="Arial"/>
              <a:ea typeface="+mn-ea"/>
              <a:cs typeface="+mn-cs"/>
            </a:endParaRPr>
          </a:p>
        </p:txBody>
      </p:sp>
      <p:sp>
        <p:nvSpPr>
          <p:cNvPr id="9" name="文本框 8">
            <a:extLst>
              <a:ext uri="{FF2B5EF4-FFF2-40B4-BE49-F238E27FC236}">
                <a16:creationId xmlns:a16="http://schemas.microsoft.com/office/drawing/2014/main" id="{E86F8F2A-F10A-4811-97A8-49BDBB1DCB9D}"/>
              </a:ext>
            </a:extLst>
          </p:cNvPr>
          <p:cNvSpPr txBox="1"/>
          <p:nvPr/>
        </p:nvSpPr>
        <p:spPr>
          <a:xfrm>
            <a:off x="498217" y="1194605"/>
            <a:ext cx="7859434" cy="66986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124171"/>
                </a:solidFill>
                <a:effectLst/>
                <a:uLnTx/>
                <a:uFillTx/>
                <a:latin typeface="-apple-system"/>
                <a:ea typeface="+mn-ea"/>
                <a:cs typeface="+mn-cs"/>
              </a:rPr>
              <a:t>  实验</a:t>
            </a:r>
            <a:r>
              <a:rPr lang="zh-CN" altLang="en-US" sz="2800" b="1" dirty="0">
                <a:solidFill>
                  <a:srgbClr val="124171"/>
                </a:solidFill>
                <a:latin typeface="-apple-system"/>
              </a:rPr>
              <a:t>说明</a:t>
            </a:r>
            <a:endParaRPr kumimoji="0" lang="en-US" altLang="zh-CN" sz="2800" b="1" i="0" u="none" strike="noStrike" kern="1200" cap="none" spc="0" normalizeH="0" baseline="0" noProof="0" dirty="0">
              <a:ln>
                <a:noFill/>
              </a:ln>
              <a:solidFill>
                <a:srgbClr val="124171"/>
              </a:solidFill>
              <a:effectLst/>
              <a:uLnTx/>
              <a:uFillTx/>
              <a:latin typeface="-apple-system"/>
              <a:ea typeface="+mn-ea"/>
              <a:cs typeface="+mn-cs"/>
            </a:endParaRPr>
          </a:p>
        </p:txBody>
      </p:sp>
      <p:sp>
        <p:nvSpPr>
          <p:cNvPr id="3" name="文本框 2">
            <a:extLst>
              <a:ext uri="{FF2B5EF4-FFF2-40B4-BE49-F238E27FC236}">
                <a16:creationId xmlns:a16="http://schemas.microsoft.com/office/drawing/2014/main" id="{14502750-F17B-4130-8786-079644045760}"/>
              </a:ext>
            </a:extLst>
          </p:cNvPr>
          <p:cNvSpPr txBox="1"/>
          <p:nvPr/>
        </p:nvSpPr>
        <p:spPr>
          <a:xfrm>
            <a:off x="1021976" y="1893327"/>
            <a:ext cx="7440706" cy="1287532"/>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b="1" dirty="0">
                <a:solidFill>
                  <a:srgbClr val="FF0000"/>
                </a:solidFill>
                <a:latin typeface="Arial"/>
              </a:rPr>
              <a:t>基础任务：</a:t>
            </a:r>
            <a:r>
              <a:rPr lang="zh-CN" altLang="en-US" b="1" dirty="0">
                <a:solidFill>
                  <a:srgbClr val="003366"/>
                </a:solidFill>
                <a:latin typeface="Arial"/>
              </a:rPr>
              <a:t>完成所有</a:t>
            </a:r>
            <a:r>
              <a:rPr lang="en-US" altLang="zh-CN" b="1" dirty="0">
                <a:solidFill>
                  <a:srgbClr val="003366"/>
                </a:solidFill>
                <a:latin typeface="Arial"/>
              </a:rPr>
              <a:t>TODO</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srgbClr val="FF0000"/>
                </a:solidFill>
                <a:effectLst/>
                <a:uLnTx/>
                <a:uFillTx/>
                <a:latin typeface="Arial"/>
                <a:ea typeface="+mn-ea"/>
                <a:cs typeface="+mn-cs"/>
              </a:rPr>
              <a:t>进阶任务：</a:t>
            </a:r>
            <a:r>
              <a:rPr kumimoji="0" lang="zh-CN" altLang="en-US" sz="1800" b="1" i="0" u="none" strike="noStrike" kern="1200" cap="none" spc="0" normalizeH="0" baseline="0" noProof="0" dirty="0">
                <a:ln>
                  <a:noFill/>
                </a:ln>
                <a:solidFill>
                  <a:srgbClr val="003366"/>
                </a:solidFill>
                <a:effectLst/>
                <a:uLnTx/>
                <a:uFillTx/>
                <a:latin typeface="Arial"/>
                <a:ea typeface="+mn-ea"/>
                <a:cs typeface="+mn-cs"/>
              </a:rPr>
              <a:t>完成课后问题</a:t>
            </a:r>
            <a:endParaRPr kumimoji="0" lang="en-US" altLang="zh-CN" sz="1800" b="1" i="0" u="none" strike="noStrike" kern="1200" cap="none" spc="0" normalizeH="0" baseline="0" noProof="0" dirty="0">
              <a:ln>
                <a:noFill/>
              </a:ln>
              <a:solidFill>
                <a:srgbClr val="003366"/>
              </a:solidFill>
              <a:effectLst/>
              <a:uLnTx/>
              <a:uFillTx/>
              <a:latin typeface="Arial"/>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srgbClr val="FF0000"/>
                </a:solidFill>
                <a:effectLst/>
                <a:uLnTx/>
                <a:uFillTx/>
                <a:latin typeface="Arial"/>
                <a:ea typeface="+mn-ea"/>
                <a:cs typeface="+mn-cs"/>
              </a:rPr>
              <a:t>完成上述任务都会有相应加分</a:t>
            </a:r>
            <a:endParaRPr kumimoji="0" lang="en-US" altLang="zh-CN" sz="1800" b="1"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2221356033"/>
      </p:ext>
    </p:extLst>
  </p:cSld>
  <p:clrMapOvr>
    <a:masterClrMapping/>
  </p:clrMapOvr>
</p:sld>
</file>

<file path=ppt/theme/theme1.xml><?xml version="1.0" encoding="utf-8"?>
<a:theme xmlns:a="http://schemas.openxmlformats.org/drawingml/2006/main" name="会议-wangyi">
  <a:themeElements>
    <a:clrScheme name="">
      <a:dk1>
        <a:srgbClr val="003366"/>
      </a:dk1>
      <a:lt1>
        <a:srgbClr val="FFFFFF"/>
      </a:lt1>
      <a:dk2>
        <a:srgbClr val="B4D7C8"/>
      </a:dk2>
      <a:lt2>
        <a:srgbClr val="003366"/>
      </a:lt2>
      <a:accent1>
        <a:srgbClr val="ACDCF0"/>
      </a:accent1>
      <a:accent2>
        <a:srgbClr val="FFD56B"/>
      </a:accent2>
      <a:accent3>
        <a:srgbClr val="FFFFFF"/>
      </a:accent3>
      <a:accent4>
        <a:srgbClr val="002A56"/>
      </a:accent4>
      <a:accent5>
        <a:srgbClr val="D2EBF6"/>
      </a:accent5>
      <a:accent6>
        <a:srgbClr val="E7C160"/>
      </a:accent6>
      <a:hlink>
        <a:srgbClr val="A6CE12"/>
      </a:hlink>
      <a:folHlink>
        <a:srgbClr val="DEAAB4"/>
      </a:folHlink>
    </a:clrScheme>
    <a:fontScheme name="会议-wangy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75000"/>
          </a:lnSpc>
          <a:spcBef>
            <a:spcPct val="0"/>
          </a:spcBef>
          <a:spcAft>
            <a:spcPct val="0"/>
          </a:spcAft>
          <a:buClrTx/>
          <a:buSzTx/>
          <a:buFontTx/>
          <a:buNone/>
          <a:defRPr kumimoji="0" lang="zh-CN" altLang="en-US" sz="3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75000"/>
          </a:lnSpc>
          <a:spcBef>
            <a:spcPct val="0"/>
          </a:spcBef>
          <a:spcAft>
            <a:spcPct val="0"/>
          </a:spcAft>
          <a:buClrTx/>
          <a:buSzTx/>
          <a:buFontTx/>
          <a:buNone/>
          <a:defRPr kumimoji="0" lang="zh-CN" altLang="en-US" sz="3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会议-wangyi 1">
        <a:dk1>
          <a:srgbClr val="003366"/>
        </a:dk1>
        <a:lt1>
          <a:srgbClr val="FFFFFF"/>
        </a:lt1>
        <a:dk2>
          <a:srgbClr val="003366"/>
        </a:dk2>
        <a:lt2>
          <a:srgbClr val="B4D7C8"/>
        </a:lt2>
        <a:accent1>
          <a:srgbClr val="ACDCF0"/>
        </a:accent1>
        <a:accent2>
          <a:srgbClr val="FFD56B"/>
        </a:accent2>
        <a:accent3>
          <a:srgbClr val="AAADB8"/>
        </a:accent3>
        <a:accent4>
          <a:srgbClr val="DADADA"/>
        </a:accent4>
        <a:accent5>
          <a:srgbClr val="D2EBF6"/>
        </a:accent5>
        <a:accent6>
          <a:srgbClr val="E7C160"/>
        </a:accent6>
        <a:hlink>
          <a:srgbClr val="A6CE12"/>
        </a:hlink>
        <a:folHlink>
          <a:srgbClr val="DEAAB4"/>
        </a:folHlink>
      </a:clrScheme>
      <a:clrMap bg1="dk2" tx1="lt1" bg2="dk1" tx2="lt2" accent1="accent1" accent2="accent2" accent3="accent3" accent4="accent4" accent5="accent5" accent6="accent6" hlink="hlink" folHlink="folHlink"/>
    </a:extraClrScheme>
    <a:extraClrScheme>
      <a:clrScheme name="会议-wangyi 2">
        <a:dk1>
          <a:srgbClr val="003366"/>
        </a:dk1>
        <a:lt1>
          <a:srgbClr val="003366"/>
        </a:lt1>
        <a:dk2>
          <a:srgbClr val="B4D7C8"/>
        </a:dk2>
        <a:lt2>
          <a:srgbClr val="003366"/>
        </a:lt2>
        <a:accent1>
          <a:srgbClr val="ACDCF0"/>
        </a:accent1>
        <a:accent2>
          <a:srgbClr val="FFD56B"/>
        </a:accent2>
        <a:accent3>
          <a:srgbClr val="AAADB8"/>
        </a:accent3>
        <a:accent4>
          <a:srgbClr val="002A56"/>
        </a:accent4>
        <a:accent5>
          <a:srgbClr val="D2EBF6"/>
        </a:accent5>
        <a:accent6>
          <a:srgbClr val="E7C160"/>
        </a:accent6>
        <a:hlink>
          <a:srgbClr val="A6CE12"/>
        </a:hlink>
        <a:folHlink>
          <a:srgbClr val="DEAA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TotalTime>
  <Words>1207</Words>
  <Application>Microsoft Office PowerPoint</Application>
  <PresentationFormat>全屏显示(4:3)</PresentationFormat>
  <Paragraphs>144</Paragraphs>
  <Slides>26</Slides>
  <Notes>26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-apple-system</vt:lpstr>
      <vt:lpstr>等线</vt:lpstr>
      <vt:lpstr>宋体</vt:lpstr>
      <vt:lpstr>微软雅黑</vt:lpstr>
      <vt:lpstr>Arial</vt:lpstr>
      <vt:lpstr>Cambria Math</vt:lpstr>
      <vt:lpstr>Times New Roman</vt:lpstr>
      <vt:lpstr>Wingdings</vt:lpstr>
      <vt:lpstr>会议-wangyi</vt:lpstr>
      <vt:lpstr>PowerPoint 演示文稿</vt:lpstr>
      <vt:lpstr>实验六</vt:lpstr>
      <vt:lpstr>实验六</vt:lpstr>
      <vt:lpstr>实验六</vt:lpstr>
      <vt:lpstr>实验六</vt:lpstr>
      <vt:lpstr>实验六</vt:lpstr>
      <vt:lpstr>实验六</vt:lpstr>
      <vt:lpstr>实验六</vt:lpstr>
      <vt:lpstr>实验六</vt:lpstr>
      <vt:lpstr>实验六</vt:lpstr>
      <vt:lpstr>实验六</vt:lpstr>
      <vt:lpstr>实验六</vt:lpstr>
      <vt:lpstr>实验六</vt:lpstr>
      <vt:lpstr>实验六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Jinsheng Qi</dc:creator>
  <cp:lastModifiedBy>Jinsheng Qi</cp:lastModifiedBy>
  <cp:revision>6</cp:revision>
  <dcterms:created xsi:type="dcterms:W3CDTF">2021-10-27T14:04:16Z</dcterms:created>
  <dcterms:modified xsi:type="dcterms:W3CDTF">2021-10-30T14:39:08Z</dcterms:modified>
</cp:coreProperties>
</file>